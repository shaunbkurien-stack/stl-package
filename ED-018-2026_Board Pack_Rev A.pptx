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Work fronts</c:v>
                </c:pt>
              </c:strCache>
            </c:strRef>
          </c:tx>
          <c:spPr>
            <a:solidFill>
              <a:srgbClr val="E87722"/>
            </a:solidFill>
            <a:effectLst/>
          </c:spPr>
          <c:invertIfNegative val="0"/>
          <c:dLbls>
            <c:numFmt formatCode="#,##0"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E87722"/>
              </a:solidFill>
              <a:effectLst/>
            </c:spPr>
          </c:dPt>
          <c:dPt>
            <c:idx val="1"/>
            <c:invertIfNegative val="0"/>
            <c:bubble3D val="0"/>
            <c:spPr>
              <a:solidFill>
                <a:srgbClr val="8C8C8C"/>
              </a:solidFill>
              <a:effectLst/>
            </c:spPr>
          </c:dPt>
          <c:cat>
            <c:multiLvlStrRef>
              <c:f>Sheet1!$A$2:$A$3</c:f>
              <c:multiLvlStrCache>
                <c:ptCount val="2"/>
                <c:lvl>
                  <c:pt idx="0">
                    <c:v>Fronts the deadline needs</c:v>
                  </c:pt>
                  <c:pt idx="1">
                    <c:v>Fronts the method supports</c:v>
                  </c:pt>
                </c:lvl>
              </c:multiLvlStrCache>
            </c:multiLvlStrRef>
          </c:cat>
          <c:val>
            <c:numRef>
              <c:f>Sheet1!$B$2:$B$3</c:f>
              <c:numCache>
                <c:formatCode>General</c:formatCode>
                <c:ptCount val="2"/>
                <c:pt idx="0">
                  <c:v>16</c:v>
                </c:pt>
                <c:pt idx="1">
                  <c:v>5</c:v>
                </c:pt>
              </c:numCache>
            </c:numRef>
          </c:val>
        </c:ser>
        <c:dLbls>
          <c:numFmt formatCode="#,##0"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2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Arial"/>
              </a:defRPr>
            </a:pPr>
            <a:r>
              <a:rPr sz="1300" b="0" i="0" u="none" strike="noStrike">
                <a:solidFill>
                  <a:srgbClr val="1A1A1A"/>
                </a:solidFill>
                <a:latin typeface="Arial"/>
              </a:rPr>
              <a:t>Work platforms required</a:t>
            </a:r>
          </a:p>
        </c:rich>
      </c:tx>
      <c:layout/>
      <c:overlay val="0"/>
    </c:title>
    <c:autoTitleDeleted val="0"/>
    <c:plotArea>
      <c:layout/>
      <c:barChart>
        <c:barDir val="col"/>
        <c:grouping val="clustered"/>
        <c:varyColors val="0"/>
        <c:ser>
          <c:idx val="0"/>
          <c:order val="0"/>
          <c:tx>
            <c:strRef>
              <c:f>Sheet1!$B$1</c:f>
              <c:strCache>
                <c:ptCount val="1"/>
                <c:pt idx="0">
                  <c:v>Option 1</c:v>
                </c:pt>
              </c:strCache>
            </c:strRef>
          </c:tx>
          <c:spPr>
            <a:solidFill>
              <a:srgbClr val="8C8C8C"/>
            </a:solidFill>
            <a:effectLst/>
          </c:spPr>
          <c:invertIfNegative val="0"/>
          <c:dLbls>
            <c:numFmt formatCode="#,##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Good weather year</c:v>
                  </c:pt>
                  <c:pt idx="1">
                    <c:v>Expected weather</c:v>
                  </c:pt>
                  <c:pt idx="2">
                    <c:v>Poor weather year</c:v>
                  </c:pt>
                </c:lvl>
              </c:multiLvlStrCache>
            </c:multiLvlStrRef>
          </c:cat>
          <c:val>
            <c:numRef>
              <c:f>Sheet1!$B$2:$B$4</c:f>
              <c:numCache>
                <c:formatCode>General</c:formatCode>
                <c:ptCount val="3"/>
                <c:pt idx="0">
                  <c:v>8</c:v>
                </c:pt>
                <c:pt idx="1">
                  <c:v>9</c:v>
                </c:pt>
                <c:pt idx="2">
                  <c:v>10</c:v>
                </c:pt>
              </c:numCache>
            </c:numRef>
          </c:val>
        </c:ser>
        <c:ser>
          <c:idx val="1"/>
          <c:order val="1"/>
          <c:tx>
            <c:strRef>
              <c:f>Sheet1!$C$1</c:f>
              <c:strCache>
                <c:ptCount val="1"/>
                <c:pt idx="0">
                  <c:v>Option 2</c:v>
                </c:pt>
              </c:strCache>
            </c:strRef>
          </c:tx>
          <c:spPr>
            <a:solidFill>
              <a:srgbClr val="E87722"/>
            </a:solidFill>
            <a:effectLst/>
          </c:spPr>
          <c:invertIfNegative val="0"/>
          <c:dLbls>
            <c:numFmt formatCode="#,##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Good weather year</c:v>
                  </c:pt>
                  <c:pt idx="1">
                    <c:v>Expected weather</c:v>
                  </c:pt>
                  <c:pt idx="2">
                    <c:v>Poor weather year</c:v>
                  </c:pt>
                </c:lvl>
              </c:multiLvlStrCache>
            </c:multiLvlStrRef>
          </c:cat>
          <c:val>
            <c:numRef>
              <c:f>Sheet1!$C$2:$C$4</c:f>
              <c:numCache>
                <c:formatCode>General</c:formatCode>
                <c:ptCount val="3"/>
                <c:pt idx="0">
                  <c:v>5</c:v>
                </c:pt>
                <c:pt idx="1">
                  <c:v>6</c:v>
                </c:pt>
                <c:pt idx="2">
                  <c:v>6</c:v>
                </c:pt>
              </c:numCache>
            </c:numRef>
          </c:val>
        </c:ser>
        <c:dLbls>
          <c:numFmt formatCode="#,##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Arial"/>
              </a:defRPr>
            </a:pPr>
            <a:r>
              <a:rPr sz="1300" b="0" i="0" u="none" strike="noStrike">
                <a:solidFill>
                  <a:srgbClr val="1A1A1A"/>
                </a:solidFill>
                <a:latin typeface="Arial"/>
              </a:rPr>
              <a:t>Access provision, $ million</a:t>
            </a:r>
          </a:p>
        </c:rich>
      </c:tx>
      <c:layout/>
      <c:overlay val="0"/>
    </c:title>
    <c:autoTitleDeleted val="0"/>
    <c:plotArea>
      <c:layout/>
      <c:barChart>
        <c:barDir val="col"/>
        <c:grouping val="clustered"/>
        <c:varyColors val="0"/>
        <c:ser>
          <c:idx val="0"/>
          <c:order val="0"/>
          <c:tx>
            <c:strRef>
              <c:f>Sheet1!$B$1</c:f>
              <c:strCache>
                <c:ptCount val="1"/>
                <c:pt idx="0">
                  <c:v>Access provision</c:v>
                </c:pt>
              </c:strCache>
            </c:strRef>
          </c:tx>
          <c:spPr>
            <a:solidFill>
              <a:srgbClr val="8C8C8C"/>
            </a:solidFill>
            <a:effectLst/>
          </c:spPr>
          <c:invertIfNegative val="0"/>
          <c:dLbls>
            <c:numFmt formatCode="$0.0\M"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8C8C8C"/>
              </a:solidFill>
              <a:effectLst/>
            </c:spPr>
          </c:dPt>
          <c:dPt>
            <c:idx val="1"/>
            <c:invertIfNegative val="0"/>
            <c:bubble3D val="0"/>
            <c:spPr>
              <a:solidFill>
                <a:srgbClr val="E87722"/>
              </a:solidFill>
              <a:effectLst/>
            </c:spPr>
          </c:dPt>
          <c:cat>
            <c:multiLvlStrRef>
              <c:f>Sheet1!$A$2:$A$3</c:f>
              <c:multiLvlStrCache>
                <c:ptCount val="2"/>
                <c:lvl>
                  <c:pt idx="0">
                    <c:v>Current scaffold method</c:v>
                  </c:pt>
                  <c:pt idx="1">
                    <c:v>Marine access, Option 2</c:v>
                  </c:pt>
                </c:lvl>
              </c:multiLvlStrCache>
            </c:multiLvlStrRef>
          </c:cat>
          <c:val>
            <c:numRef>
              <c:f>Sheet1!$B$2:$B$3</c:f>
              <c:numCache>
                <c:formatCode>General</c:formatCode>
                <c:ptCount val="2"/>
                <c:pt idx="0">
                  <c:v>9.3</c:v>
                </c:pt>
                <c:pt idx="1">
                  <c:v>15</c:v>
                </c:pt>
              </c:numCache>
            </c:numRef>
          </c:val>
        </c:ser>
        <c:dLbls>
          <c:numFmt formatCode="$0.0\M"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01168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Lucinda Jetty Remediation</a:t>
            </a:r>
            <a:endParaRPr lang="en-US" sz="4400" dirty="0"/>
          </a:p>
        </p:txBody>
      </p:sp>
      <p:sp>
        <p:nvSpPr>
          <p:cNvPr id="3" name="Text 1"/>
          <p:cNvSpPr/>
          <p:nvPr/>
        </p:nvSpPr>
        <p:spPr>
          <a:xfrm>
            <a:off x="822960" y="2971800"/>
            <a:ext cx="10515600" cy="640080"/>
          </a:xfrm>
          <a:prstGeom prst="rect">
            <a:avLst/>
          </a:prstGeom>
          <a:noFill/>
          <a:ln/>
        </p:spPr>
        <p:txBody>
          <a:bodyPr wrap="square" lIns="0" tIns="0" rIns="0" bIns="0" rtlCol="0" anchor="ctr"/>
          <a:lstStyle/>
          <a:p>
            <a:pPr indent="0" marL="0">
              <a:buNone/>
            </a:pPr>
            <a:r>
              <a:rPr lang="en-US" sz="2800" dirty="0">
                <a:solidFill>
                  <a:srgbClr val="E87722"/>
                </a:solidFill>
                <a:latin typeface="Georgia" pitchFamily="34" charset="0"/>
                <a:ea typeface="Georgia" pitchFamily="34" charset="-122"/>
                <a:cs typeface="Georgia" pitchFamily="34" charset="-120"/>
              </a:rPr>
              <a:t>The access decision</a:t>
            </a:r>
            <a:endParaRPr lang="en-US" sz="2800" dirty="0"/>
          </a:p>
        </p:txBody>
      </p:sp>
      <p:sp>
        <p:nvSpPr>
          <p:cNvPr id="4" name="Text 2"/>
          <p:cNvSpPr/>
          <p:nvPr/>
        </p:nvSpPr>
        <p:spPr>
          <a:xfrm>
            <a:off x="822960" y="3977640"/>
            <a:ext cx="10515600" cy="365760"/>
          </a:xfrm>
          <a:prstGeom prst="rect">
            <a:avLst/>
          </a:prstGeom>
          <a:noFill/>
          <a:ln/>
        </p:spPr>
        <p:txBody>
          <a:bodyPr wrap="square" lIns="0" tIns="0" rIns="0" bIns="0" rtlCol="0" anchor="ctr"/>
          <a:lstStyle/>
          <a:p>
            <a:pPr indent="0" marL="0">
              <a:buNone/>
            </a:pPr>
            <a:r>
              <a:rPr lang="en-US" sz="1500" dirty="0">
                <a:solidFill>
                  <a:srgbClr val="CFCFCF"/>
                </a:solidFill>
                <a:latin typeface="Arial" pitchFamily="34" charset="0"/>
                <a:ea typeface="Arial" pitchFamily="34" charset="-122"/>
                <a:cs typeface="Arial" pitchFamily="34" charset="-120"/>
              </a:rPr>
              <a:t>Board briefing  |  Sugar Terminals Limited  |  August 2026</a:t>
            </a:r>
            <a:endParaRPr lang="en-US" sz="1500" dirty="0"/>
          </a:p>
        </p:txBody>
      </p:sp>
      <p:sp>
        <p:nvSpPr>
          <p:cNvPr id="5" name="Text 3"/>
          <p:cNvSpPr/>
          <p:nvPr/>
        </p:nvSpPr>
        <p:spPr>
          <a:xfrm>
            <a:off x="822960" y="5715000"/>
            <a:ext cx="10515600" cy="320040"/>
          </a:xfrm>
          <a:prstGeom prst="rect">
            <a:avLst/>
          </a:prstGeom>
          <a:noFill/>
          <a:ln/>
        </p:spPr>
        <p:txBody>
          <a:bodyPr wrap="square" lIns="0" tIns="0" rIns="0" bIns="0" rtlCol="0" anchor="ctr"/>
          <a:lstStyle/>
          <a:p>
            <a:pPr indent="0" marL="0">
              <a:buNone/>
            </a:pPr>
            <a:r>
              <a:rPr lang="en-US" sz="1100" dirty="0">
                <a:solidFill>
                  <a:srgbClr val="CFCFCF"/>
                </a:solidFill>
                <a:latin typeface="Arial" pitchFamily="34" charset="0"/>
                <a:ea typeface="Arial" pitchFamily="34" charset="-122"/>
                <a:cs typeface="Arial" pitchFamily="34" charset="-120"/>
              </a:rPr>
              <a:t>ED-018-2026-03  |  Rev A  |  20 August 2026  |  Prepared: S Kurien  |  Checked and approved: J van Iersel</a:t>
            </a:r>
            <a:endParaRPr lang="en-US" sz="1100" dirty="0"/>
          </a:p>
        </p:txBody>
      </p:sp>
      <p:sp>
        <p:nvSpPr>
          <p:cNvPr id="6" name="Text 4"/>
          <p:cNvSpPr/>
          <p:nvPr/>
        </p:nvSpPr>
        <p:spPr>
          <a:xfrm>
            <a:off x="822960" y="6053328"/>
            <a:ext cx="10515600" cy="365760"/>
          </a:xfrm>
          <a:prstGeom prst="rect">
            <a:avLst/>
          </a:prstGeom>
          <a:noFill/>
          <a:ln/>
        </p:spPr>
        <p:txBody>
          <a:bodyPr wrap="square" lIns="0" tIns="0" rIns="0" bIns="0" rtlCol="0" anchor="ctr"/>
          <a:lstStyle/>
          <a:p>
            <a:pPr indent="0" marL="0">
              <a:buNone/>
            </a:pPr>
            <a:r>
              <a:rPr lang="en-US" sz="1100" dirty="0">
                <a:solidFill>
                  <a:srgbClr val="8C8C8C"/>
                </a:solidFill>
                <a:latin typeface="Arial" pitchFamily="34" charset="0"/>
                <a:ea typeface="Arial" pitchFamily="34" charset="-122"/>
                <a:cs typeface="Arial" pitchFamily="34" charset="-120"/>
              </a:rPr>
              <a:t>Prepared by Endura Decommissioning under engagement ED-018-2026-01. Commercial in confidence.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One number decides this project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To finish the priority scope by the end of 2028, the works must complete 4.5 pilebents every week.</a:t>
            </a:r>
            <a:endParaRPr lang="en-US" sz="1400" dirty="0"/>
          </a:p>
        </p:txBody>
      </p:sp>
      <p:sp>
        <p:nvSpPr>
          <p:cNvPr id="4" name="Shape 2"/>
          <p:cNvSpPr/>
          <p:nvPr/>
        </p:nvSpPr>
        <p:spPr>
          <a:xfrm>
            <a:off x="548640" y="1691640"/>
            <a:ext cx="3520440" cy="2286000"/>
          </a:xfrm>
          <a:prstGeom prst="roundRect">
            <a:avLst>
              <a:gd name="adj" fmla="val 3200"/>
            </a:avLst>
          </a:prstGeom>
          <a:solidFill>
            <a:srgbClr val="FFFFFF"/>
          </a:solidFill>
          <a:ln w="12700">
            <a:solidFill>
              <a:srgbClr val="E3E0DA"/>
            </a:solidFill>
            <a:prstDash val="solid"/>
          </a:ln>
        </p:spPr>
      </p:sp>
      <p:sp>
        <p:nvSpPr>
          <p:cNvPr id="5" name="Text 3"/>
          <p:cNvSpPr/>
          <p:nvPr/>
        </p:nvSpPr>
        <p:spPr>
          <a:xfrm>
            <a:off x="548640" y="1874520"/>
            <a:ext cx="3520440" cy="1097280"/>
          </a:xfrm>
          <a:prstGeom prst="rect">
            <a:avLst/>
          </a:prstGeom>
          <a:noFill/>
          <a:ln/>
        </p:spPr>
        <p:txBody>
          <a:bodyPr wrap="square" lIns="0" tIns="0" rIns="0" bIns="0" rtlCol="0" anchor="ctr"/>
          <a:lstStyle/>
          <a:p>
            <a:pPr algn="ctr" indent="0" marL="0">
              <a:buNone/>
            </a:pPr>
            <a:r>
              <a:rPr lang="en-US" sz="6000" b="1" dirty="0">
                <a:solidFill>
                  <a:srgbClr val="8C8C8C"/>
                </a:solidFill>
                <a:latin typeface="Georgia" pitchFamily="34" charset="0"/>
                <a:ea typeface="Georgia" pitchFamily="34" charset="-122"/>
                <a:cs typeface="Georgia" pitchFamily="34" charset="-120"/>
              </a:rPr>
              <a:t>0.36</a:t>
            </a:r>
            <a:endParaRPr lang="en-US" sz="6000" dirty="0"/>
          </a:p>
        </p:txBody>
      </p:sp>
      <p:sp>
        <p:nvSpPr>
          <p:cNvPr id="6" name="Text 4"/>
          <p:cNvSpPr/>
          <p:nvPr/>
        </p:nvSpPr>
        <p:spPr>
          <a:xfrm>
            <a:off x="548640" y="3017520"/>
            <a:ext cx="352044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per week achieved</a:t>
            </a:r>
            <a:endParaRPr lang="en-US" sz="1600" dirty="0"/>
          </a:p>
        </p:txBody>
      </p:sp>
      <p:sp>
        <p:nvSpPr>
          <p:cNvPr id="7" name="Text 5"/>
          <p:cNvSpPr/>
          <p:nvPr/>
        </p:nvSpPr>
        <p:spPr>
          <a:xfrm>
            <a:off x="548640" y="3401568"/>
            <a:ext cx="3520440" cy="320040"/>
          </a:xfrm>
          <a:prstGeom prst="rect">
            <a:avLst/>
          </a:prstGeom>
          <a:noFill/>
          <a:ln/>
        </p:spPr>
        <p:txBody>
          <a:bodyPr wrap="square" lIns="0" tIns="0" rIns="0" bIns="0" rtlCol="0" anchor="ctr"/>
          <a:lstStyle/>
          <a:p>
            <a:pPr algn="ctr" indent="0" marL="0">
              <a:buNone/>
            </a:pPr>
            <a:r>
              <a:rPr lang="en-US" sz="1200" dirty="0">
                <a:solidFill>
                  <a:srgbClr val="8C8C8C"/>
                </a:solidFill>
                <a:latin typeface="Arial" pitchFamily="34" charset="0"/>
                <a:ea typeface="Arial" pitchFamily="34" charset="-122"/>
                <a:cs typeface="Arial" pitchFamily="34" charset="-120"/>
              </a:rPr>
              <a:t>March to July 2026</a:t>
            </a:r>
            <a:endParaRPr lang="en-US" sz="1200" dirty="0"/>
          </a:p>
        </p:txBody>
      </p:sp>
      <p:sp>
        <p:nvSpPr>
          <p:cNvPr id="8" name="Shape 6"/>
          <p:cNvSpPr/>
          <p:nvPr/>
        </p:nvSpPr>
        <p:spPr>
          <a:xfrm>
            <a:off x="4434840" y="1691640"/>
            <a:ext cx="3520440" cy="2286000"/>
          </a:xfrm>
          <a:prstGeom prst="roundRect">
            <a:avLst>
              <a:gd name="adj" fmla="val 3200"/>
            </a:avLst>
          </a:prstGeom>
          <a:solidFill>
            <a:srgbClr val="FFFFFF"/>
          </a:solidFill>
          <a:ln w="12700">
            <a:solidFill>
              <a:srgbClr val="E3E0DA"/>
            </a:solidFill>
            <a:prstDash val="solid"/>
          </a:ln>
        </p:spPr>
      </p:sp>
      <p:sp>
        <p:nvSpPr>
          <p:cNvPr id="9" name="Text 7"/>
          <p:cNvSpPr/>
          <p:nvPr/>
        </p:nvSpPr>
        <p:spPr>
          <a:xfrm>
            <a:off x="4434840" y="1874520"/>
            <a:ext cx="3520440" cy="1097280"/>
          </a:xfrm>
          <a:prstGeom prst="rect">
            <a:avLst/>
          </a:prstGeom>
          <a:noFill/>
          <a:ln/>
        </p:spPr>
        <p:txBody>
          <a:bodyPr wrap="square" lIns="0" tIns="0" rIns="0" bIns="0" rtlCol="0" anchor="ctr"/>
          <a:lstStyle/>
          <a:p>
            <a:pPr algn="ctr" indent="0" marL="0">
              <a:buNone/>
            </a:pPr>
            <a:r>
              <a:rPr lang="en-US" sz="6000" b="1" dirty="0">
                <a:solidFill>
                  <a:srgbClr val="8C8C8C"/>
                </a:solidFill>
                <a:latin typeface="Georgia" pitchFamily="34" charset="0"/>
                <a:ea typeface="Georgia" pitchFamily="34" charset="-122"/>
                <a:cs typeface="Georgia" pitchFamily="34" charset="-120"/>
              </a:rPr>
              <a:t>2.5</a:t>
            </a:r>
            <a:endParaRPr lang="en-US" sz="6000" dirty="0"/>
          </a:p>
        </p:txBody>
      </p:sp>
      <p:sp>
        <p:nvSpPr>
          <p:cNvPr id="10" name="Text 8"/>
          <p:cNvSpPr/>
          <p:nvPr/>
        </p:nvSpPr>
        <p:spPr>
          <a:xfrm>
            <a:off x="4434840" y="3017520"/>
            <a:ext cx="352044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per week planned</a:t>
            </a:r>
            <a:endParaRPr lang="en-US" sz="1600" dirty="0"/>
          </a:p>
        </p:txBody>
      </p:sp>
      <p:sp>
        <p:nvSpPr>
          <p:cNvPr id="11" name="Text 9"/>
          <p:cNvSpPr/>
          <p:nvPr/>
        </p:nvSpPr>
        <p:spPr>
          <a:xfrm>
            <a:off x="4434840" y="3401568"/>
            <a:ext cx="3520440" cy="320040"/>
          </a:xfrm>
          <a:prstGeom prst="rect">
            <a:avLst/>
          </a:prstGeom>
          <a:noFill/>
          <a:ln/>
        </p:spPr>
        <p:txBody>
          <a:bodyPr wrap="square" lIns="0" tIns="0" rIns="0" bIns="0" rtlCol="0" anchor="ctr"/>
          <a:lstStyle/>
          <a:p>
            <a:pPr algn="ctr" indent="0" marL="0">
              <a:buNone/>
            </a:pPr>
            <a:r>
              <a:rPr lang="en-US" sz="1200" dirty="0">
                <a:solidFill>
                  <a:srgbClr val="8C8C8C"/>
                </a:solidFill>
                <a:latin typeface="Arial" pitchFamily="34" charset="0"/>
                <a:ea typeface="Arial" pitchFamily="34" charset="-122"/>
                <a:cs typeface="Arial" pitchFamily="34" charset="-120"/>
              </a:rPr>
              <a:t>the contract programme</a:t>
            </a:r>
            <a:endParaRPr lang="en-US" sz="1200" dirty="0"/>
          </a:p>
        </p:txBody>
      </p:sp>
      <p:sp>
        <p:nvSpPr>
          <p:cNvPr id="12" name="Shape 10"/>
          <p:cNvSpPr/>
          <p:nvPr/>
        </p:nvSpPr>
        <p:spPr>
          <a:xfrm>
            <a:off x="8321040" y="1691640"/>
            <a:ext cx="3520440" cy="2286000"/>
          </a:xfrm>
          <a:prstGeom prst="roundRect">
            <a:avLst>
              <a:gd name="adj" fmla="val 3200"/>
            </a:avLst>
          </a:prstGeom>
          <a:solidFill>
            <a:srgbClr val="FAF7F1"/>
          </a:solidFill>
          <a:ln w="25400">
            <a:solidFill>
              <a:srgbClr val="E87722"/>
            </a:solidFill>
            <a:prstDash val="solid"/>
          </a:ln>
        </p:spPr>
      </p:sp>
      <p:sp>
        <p:nvSpPr>
          <p:cNvPr id="13" name="Text 11"/>
          <p:cNvSpPr/>
          <p:nvPr/>
        </p:nvSpPr>
        <p:spPr>
          <a:xfrm>
            <a:off x="8321040" y="1874520"/>
            <a:ext cx="3520440" cy="1097280"/>
          </a:xfrm>
          <a:prstGeom prst="rect">
            <a:avLst/>
          </a:prstGeom>
          <a:noFill/>
          <a:ln/>
        </p:spPr>
        <p:txBody>
          <a:bodyPr wrap="square" lIns="0" tIns="0" rIns="0" bIns="0" rtlCol="0" anchor="ctr"/>
          <a:lstStyle/>
          <a:p>
            <a:pPr algn="ctr" indent="0" marL="0">
              <a:buNone/>
            </a:pPr>
            <a:r>
              <a:rPr lang="en-US" sz="6000" b="1" dirty="0">
                <a:solidFill>
                  <a:srgbClr val="E87722"/>
                </a:solidFill>
                <a:latin typeface="Georgia" pitchFamily="34" charset="0"/>
                <a:ea typeface="Georgia" pitchFamily="34" charset="-122"/>
                <a:cs typeface="Georgia" pitchFamily="34" charset="-120"/>
              </a:rPr>
              <a:t>4.5</a:t>
            </a:r>
            <a:endParaRPr lang="en-US" sz="6000" dirty="0"/>
          </a:p>
        </p:txBody>
      </p:sp>
      <p:sp>
        <p:nvSpPr>
          <p:cNvPr id="14" name="Text 12"/>
          <p:cNvSpPr/>
          <p:nvPr/>
        </p:nvSpPr>
        <p:spPr>
          <a:xfrm>
            <a:off x="8321040" y="3017520"/>
            <a:ext cx="352044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per week required</a:t>
            </a:r>
            <a:endParaRPr lang="en-US" sz="1600" dirty="0"/>
          </a:p>
        </p:txBody>
      </p:sp>
      <p:sp>
        <p:nvSpPr>
          <p:cNvPr id="15" name="Text 13"/>
          <p:cNvSpPr/>
          <p:nvPr/>
        </p:nvSpPr>
        <p:spPr>
          <a:xfrm>
            <a:off x="8321040" y="3401568"/>
            <a:ext cx="3520440" cy="320040"/>
          </a:xfrm>
          <a:prstGeom prst="rect">
            <a:avLst/>
          </a:prstGeom>
          <a:noFill/>
          <a:ln/>
        </p:spPr>
        <p:txBody>
          <a:bodyPr wrap="square" lIns="0" tIns="0" rIns="0" bIns="0" rtlCol="0" anchor="ctr"/>
          <a:lstStyle/>
          <a:p>
            <a:pPr algn="ctr" indent="0" marL="0">
              <a:buNone/>
            </a:pPr>
            <a:r>
              <a:rPr lang="en-US" sz="1200" dirty="0">
                <a:solidFill>
                  <a:srgbClr val="8C8C8C"/>
                </a:solidFill>
                <a:latin typeface="Arial" pitchFamily="34" charset="0"/>
                <a:ea typeface="Arial" pitchFamily="34" charset="-122"/>
                <a:cs typeface="Arial" pitchFamily="34" charset="-120"/>
              </a:rPr>
              <a:t>to finish by end 2028</a:t>
            </a:r>
            <a:endParaRPr lang="en-US" sz="1200" dirty="0"/>
          </a:p>
        </p:txBody>
      </p:sp>
      <p:sp>
        <p:nvSpPr>
          <p:cNvPr id="16" name="Text 14"/>
          <p:cNvSpPr/>
          <p:nvPr/>
        </p:nvSpPr>
        <p:spPr>
          <a:xfrm>
            <a:off x="548640" y="4343400"/>
            <a:ext cx="11064240" cy="155448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The plan was half the required rate before a single day was lost. </a:t>
            </a:r>
            <a:pPr indent="0" marL="0">
              <a:buNone/>
            </a:pPr>
            <a:r>
              <a:rPr lang="en-US" sz="1600" dirty="0">
                <a:solidFill>
                  <a:srgbClr val="1A1A1A"/>
                </a:solidFill>
                <a:latin typeface="Arial" pitchFamily="34" charset="0"/>
                <a:ea typeface="Arial" pitchFamily="34" charset="-122"/>
                <a:cs typeface="Arial" pitchFamily="34" charset="-120"/>
              </a:rPr>
              <a:t>Delivery is running at one twelfth. At the achieved rate the remaining 227 pilebents finish beyond 2035; the asset requirement is the end of 2028. A pilebent is one of the repeating two pile frames that carry the jetty; 227 remain in the priority scope.</a:t>
            </a:r>
            <a:endParaRPr lang="en-US" sz="160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A</a:t>
            </a:r>
            <a:endParaRPr lang="en-US" sz="900" dirty="0"/>
          </a:p>
        </p:txBody>
      </p:sp>
      <p:sp>
        <p:nvSpPr>
          <p:cNvPr id="18" name="Text 16"/>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More effort cannot fix it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The constraint is built into how access is provided, not into how hard anyone works.</a:t>
            </a:r>
            <a:endParaRPr lang="en-US" sz="1400" dirty="0"/>
          </a:p>
        </p:txBody>
      </p:sp>
      <p:sp>
        <p:nvSpPr>
          <p:cNvPr id="4" name="Text 2"/>
          <p:cNvSpPr/>
          <p:nvPr/>
        </p:nvSpPr>
        <p:spPr>
          <a:xfrm>
            <a:off x="548640" y="1600200"/>
            <a:ext cx="5577840" cy="42062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Today, scaffold is built, wrapped, stripped and rebuilt at every single pilebent. </a:t>
            </a:r>
            <a:pPr indent="0" marL="0">
              <a:buNone/>
            </a:pPr>
            <a:r>
              <a:rPr lang="en-US" sz="1500" dirty="0">
                <a:solidFill>
                  <a:srgbClr val="1A1A1A"/>
                </a:solidFill>
                <a:latin typeface="Arial" pitchFamily="34" charset="0"/>
                <a:ea typeface="Arial" pitchFamily="34" charset="-122"/>
                <a:cs typeface="Arial" pitchFamily="34" charset="-120"/>
              </a:rPr>
              <a:t>Of a 15 to 16 day cycle, only about half is trade work; the rest is access handling and approval waiting, paid again 227 times.
</a:t>
            </a:r>
            <a:pPr indent="0" marL="0">
              <a:buNone/>
            </a:pPr>
            <a:r>
              <a:rPr lang="en-US" sz="1500" b="1" dirty="0">
                <a:solidFill>
                  <a:srgbClr val="1A1A1A"/>
                </a:solidFill>
                <a:latin typeface="Arial" pitchFamily="34" charset="0"/>
                <a:ea typeface="Arial" pitchFamily="34" charset="-122"/>
                <a:cs typeface="Arial" pitchFamily="34" charset="-120"/>
              </a:rPr>
              <a:t>To reach 4.5 per week this way would take 14 to 18 scaffold crews working at once. </a:t>
            </a:r>
            <a:pPr indent="0" marL="0">
              <a:buNone/>
            </a:pPr>
            <a:r>
              <a:rPr lang="en-US" sz="1500" dirty="0">
                <a:solidFill>
                  <a:srgbClr val="1A1A1A"/>
                </a:solidFill>
                <a:latin typeface="Arial" pitchFamily="34" charset="0"/>
                <a:ea typeface="Arial" pitchFamily="34" charset="-122"/>
                <a:cs typeface="Arial" pitchFamily="34" charset="-120"/>
              </a:rPr>
              <a:t>The method physically supports about five: one welding unit, one blasting unit, and a single lane roadway that every scaffold movement must share.
</a:t>
            </a:r>
            <a:pPr indent="0" marL="0">
              <a:buNone/>
            </a:pPr>
            <a:r>
              <a:rPr lang="en-US" sz="1500" dirty="0">
                <a:solidFill>
                  <a:srgbClr val="1A1A1A"/>
                </a:solidFill>
                <a:latin typeface="Arial" pitchFamily="34" charset="0"/>
                <a:ea typeface="Arial" pitchFamily="34" charset="-122"/>
                <a:cs typeface="Arial" pitchFamily="34" charset="-120"/>
              </a:rPr>
              <a:t>Five perfect scaffold fronts deliver 1.3 to 1.7 per week. That is five or more seasons of work, whoever performs it.</a:t>
            </a:r>
            <a:endParaRPr lang="en-US" sz="1500" dirty="0"/>
          </a:p>
        </p:txBody>
      </p:sp>
      <p:graphicFrame>
        <p:nvGraphicFramePr>
          <p:cNvPr id="5" name="Chart 0" descr=""/>
          <p:cNvGraphicFramePr/>
          <p:nvPr/>
        </p:nvGraphicFramePr>
        <p:xfrm>
          <a:off x="6492240" y="169164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92240" y="5440680"/>
            <a:ext cx="5120640" cy="548640"/>
          </a:xfrm>
          <a:prstGeom prst="rect">
            <a:avLst/>
          </a:prstGeom>
          <a:noFill/>
          <a:ln/>
        </p:spPr>
        <p:txBody>
          <a:bodyPr wrap="square" lIns="0" tIns="0" rIns="0" bIns="0" rtlCol="0" anchor="ctr"/>
          <a:lstStyle/>
          <a:p>
            <a:pPr indent="0" marL="0">
              <a:buNone/>
            </a:pPr>
            <a:r>
              <a:rPr lang="en-US" sz="1100" i="1" dirty="0">
                <a:solidFill>
                  <a:srgbClr val="8C8C8C"/>
                </a:solidFill>
                <a:latin typeface="Arial" pitchFamily="34" charset="0"/>
                <a:ea typeface="Arial" pitchFamily="34" charset="-122"/>
                <a:cs typeface="Arial" pitchFamily="34" charset="-120"/>
              </a:rPr>
              <a:t>Needed: 14 to 18 (16 shown). Re tendering the same method hands the same arithmetic to the next contractor.</a:t>
            </a:r>
            <a:endParaRPr lang="en-US" sz="1100" dirty="0"/>
          </a:p>
        </p:txBody>
      </p:sp>
      <p:sp>
        <p:nvSpPr>
          <p:cNvPr id="7" name="Text 4"/>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A</a:t>
            </a:r>
            <a:endParaRPr lang="en-US" sz="900" dirty="0"/>
          </a:p>
        </p:txBody>
      </p:sp>
      <p:sp>
        <p:nvSpPr>
          <p:cNvPr id="8" name="Text 5"/>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The fix: build the access once, and move it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A floating work platform replaces the scaffold that is currently rebuilt at every pilebent.</a:t>
            </a:r>
            <a:endParaRPr lang="en-US" sz="1400" dirty="0"/>
          </a:p>
        </p:txBody>
      </p:sp>
      <p:sp>
        <p:nvSpPr>
          <p:cNvPr id="4" name="Shape 2"/>
          <p:cNvSpPr/>
          <p:nvPr/>
        </p:nvSpPr>
        <p:spPr>
          <a:xfrm>
            <a:off x="548640" y="1645920"/>
            <a:ext cx="566928" cy="566928"/>
          </a:xfrm>
          <a:prstGeom prst="ellipse">
            <a:avLst/>
          </a:prstGeom>
          <a:solidFill>
            <a:srgbClr val="E87722"/>
          </a:solidFill>
          <a:ln/>
        </p:spPr>
      </p:sp>
      <p:sp>
        <p:nvSpPr>
          <p:cNvPr id="5" name="Text 3"/>
          <p:cNvSpPr/>
          <p:nvPr/>
        </p:nvSpPr>
        <p:spPr>
          <a:xfrm>
            <a:off x="548640" y="16459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1325880" y="1609344"/>
            <a:ext cx="576072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Platforms float in by boat</a:t>
            </a:r>
            <a:endParaRPr lang="en-US" sz="1600" dirty="0"/>
          </a:p>
        </p:txBody>
      </p:sp>
      <p:sp>
        <p:nvSpPr>
          <p:cNvPr id="7" name="Text 5"/>
          <p:cNvSpPr/>
          <p:nvPr/>
        </p:nvSpPr>
        <p:spPr>
          <a:xfrm>
            <a:off x="1325880" y="1975104"/>
            <a:ext cx="5760720" cy="7772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Work stages built on floats are pushed to each pilebent by workboat and joined around the piles. No load on the roadway.</a:t>
            </a:r>
            <a:endParaRPr lang="en-US" sz="1250" dirty="0"/>
          </a:p>
        </p:txBody>
      </p:sp>
      <p:sp>
        <p:nvSpPr>
          <p:cNvPr id="8" name="Shape 6"/>
          <p:cNvSpPr/>
          <p:nvPr/>
        </p:nvSpPr>
        <p:spPr>
          <a:xfrm>
            <a:off x="548640" y="2880360"/>
            <a:ext cx="566928" cy="566928"/>
          </a:xfrm>
          <a:prstGeom prst="ellipse">
            <a:avLst/>
          </a:prstGeom>
          <a:solidFill>
            <a:srgbClr val="E87722"/>
          </a:solidFill>
          <a:ln/>
        </p:spPr>
      </p:sp>
      <p:sp>
        <p:nvSpPr>
          <p:cNvPr id="9" name="Text 7"/>
          <p:cNvSpPr/>
          <p:nvPr/>
        </p:nvSpPr>
        <p:spPr>
          <a:xfrm>
            <a:off x="548640" y="2880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0" name="Text 8"/>
          <p:cNvSpPr/>
          <p:nvPr/>
        </p:nvSpPr>
        <p:spPr>
          <a:xfrm>
            <a:off x="1325880" y="2843784"/>
            <a:ext cx="576072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They lift clear of the tide</a:t>
            </a:r>
            <a:endParaRPr lang="en-US" sz="1600" dirty="0"/>
          </a:p>
        </p:txBody>
      </p:sp>
      <p:sp>
        <p:nvSpPr>
          <p:cNvPr id="11" name="Text 9"/>
          <p:cNvSpPr/>
          <p:nvPr/>
        </p:nvSpPr>
        <p:spPr>
          <a:xfrm>
            <a:off x="1325880" y="3209544"/>
            <a:ext cx="5760720" cy="7772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Electric hoists raise the whole stage above the water, where it is secured as a stable, enclosed work deck.</a:t>
            </a:r>
            <a:endParaRPr lang="en-US" sz="1250" dirty="0"/>
          </a:p>
        </p:txBody>
      </p:sp>
      <p:sp>
        <p:nvSpPr>
          <p:cNvPr id="12" name="Shape 10"/>
          <p:cNvSpPr/>
          <p:nvPr/>
        </p:nvSpPr>
        <p:spPr>
          <a:xfrm>
            <a:off x="548640" y="4114800"/>
            <a:ext cx="566928" cy="566928"/>
          </a:xfrm>
          <a:prstGeom prst="ellipse">
            <a:avLst/>
          </a:prstGeom>
          <a:solidFill>
            <a:srgbClr val="E87722"/>
          </a:solidFill>
          <a:ln/>
        </p:spPr>
      </p:sp>
      <p:sp>
        <p:nvSpPr>
          <p:cNvPr id="13" name="Text 11"/>
          <p:cNvSpPr/>
          <p:nvPr/>
        </p:nvSpPr>
        <p:spPr>
          <a:xfrm>
            <a:off x="548640" y="41148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4" name="Text 12"/>
          <p:cNvSpPr/>
          <p:nvPr/>
        </p:nvSpPr>
        <p:spPr>
          <a:xfrm>
            <a:off x="1325880" y="4078224"/>
            <a:ext cx="576072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The trades work, then it moves on</a:t>
            </a:r>
            <a:endParaRPr lang="en-US" sz="1600" dirty="0"/>
          </a:p>
        </p:txBody>
      </p:sp>
      <p:sp>
        <p:nvSpPr>
          <p:cNvPr id="15" name="Text 13"/>
          <p:cNvSpPr/>
          <p:nvPr/>
        </p:nvSpPr>
        <p:spPr>
          <a:xfrm>
            <a:off x="1325880" y="4443984"/>
            <a:ext cx="5760720" cy="7772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Welding, blasting, coating and wrapping happen exactly as they do today. Then the platform moves to the next pilebent in hours, not days.</a:t>
            </a:r>
            <a:endParaRPr lang="en-US" sz="1250" dirty="0"/>
          </a:p>
        </p:txBody>
      </p:sp>
      <p:sp>
        <p:nvSpPr>
          <p:cNvPr id="16" name="Shape 14"/>
          <p:cNvSpPr/>
          <p:nvPr/>
        </p:nvSpPr>
        <p:spPr>
          <a:xfrm>
            <a:off x="7589520" y="1645920"/>
            <a:ext cx="4023360" cy="3657600"/>
          </a:xfrm>
          <a:prstGeom prst="roundRect">
            <a:avLst>
              <a:gd name="adj" fmla="val 2000"/>
            </a:avLst>
          </a:prstGeom>
          <a:solidFill>
            <a:srgbClr val="FAF7F1"/>
          </a:solidFill>
          <a:ln w="12700">
            <a:solidFill>
              <a:srgbClr val="E3E0DA"/>
            </a:solidFill>
            <a:prstDash val="solid"/>
          </a:ln>
        </p:spPr>
      </p:sp>
      <p:sp>
        <p:nvSpPr>
          <p:cNvPr id="17" name="Text 15"/>
          <p:cNvSpPr/>
          <p:nvPr/>
        </p:nvSpPr>
        <p:spPr>
          <a:xfrm>
            <a:off x="7863840" y="1874520"/>
            <a:ext cx="3474720" cy="365760"/>
          </a:xfrm>
          <a:prstGeom prst="rect">
            <a:avLst/>
          </a:prstGeom>
          <a:noFill/>
          <a:ln/>
        </p:spPr>
        <p:txBody>
          <a:bodyPr wrap="square" lIns="0" tIns="0" rIns="0" bIns="0" rtlCol="0" anchor="ctr"/>
          <a:lstStyle/>
          <a:p>
            <a:pPr indent="0" marL="0">
              <a:buNone/>
            </a:pPr>
            <a:r>
              <a:rPr lang="en-US" sz="1600" b="1" dirty="0">
                <a:solidFill>
                  <a:srgbClr val="1A1A1A"/>
                </a:solidFill>
                <a:latin typeface="Georgia" pitchFamily="34" charset="0"/>
                <a:ea typeface="Georgia" pitchFamily="34" charset="-122"/>
                <a:cs typeface="Georgia" pitchFamily="34" charset="-120"/>
              </a:rPr>
              <a:t>What does not change</a:t>
            </a:r>
            <a:endParaRPr lang="en-US" sz="1600" dirty="0"/>
          </a:p>
        </p:txBody>
      </p:sp>
      <p:sp>
        <p:nvSpPr>
          <p:cNvPr id="18" name="Text 16"/>
          <p:cNvSpPr/>
          <p:nvPr/>
        </p:nvSpPr>
        <p:spPr>
          <a:xfrm>
            <a:off x="7863840" y="2286000"/>
            <a:ext cx="3474720" cy="283464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The trade work itself. </a:t>
            </a:r>
            <a:pPr indent="0" marL="0">
              <a:buNone/>
            </a:pPr>
            <a:r>
              <a:rPr lang="en-US" sz="1250" dirty="0">
                <a:solidFill>
                  <a:srgbClr val="1A1A1A"/>
                </a:solidFill>
                <a:latin typeface="Arial" pitchFamily="34" charset="0"/>
                <a:ea typeface="Arial" pitchFamily="34" charset="-122"/>
                <a:cs typeface="Arial" pitchFamily="34" charset="-120"/>
              </a:rPr>
              <a:t>Same repairs, same coating system, same crews, same rates, same quality standard. This assessment re prices the access only.
</a:t>
            </a:r>
            <a:pPr indent="0" marL="0">
              <a:buNone/>
            </a:pPr>
            <a:r>
              <a:rPr lang="en-US" sz="1250" dirty="0">
                <a:solidFill>
                  <a:srgbClr val="1A1A1A"/>
                </a:solidFill>
                <a:latin typeface="Arial" pitchFamily="34" charset="0"/>
                <a:ea typeface="Arial" pitchFamily="34" charset="-122"/>
                <a:cs typeface="Arial" pitchFamily="34" charset="-120"/>
              </a:rPr>
              <a:t>What improves is that the trade crews always have a face to work on, instead of waiting for scaffold.</a:t>
            </a:r>
            <a:endParaRPr lang="en-US" sz="1250" dirty="0"/>
          </a:p>
        </p:txBody>
      </p:sp>
      <p:sp>
        <p:nvSpPr>
          <p:cNvPr id="19" name="Text 17"/>
          <p:cNvSpPr/>
          <p:nvPr/>
        </p:nvSpPr>
        <p:spPr>
          <a:xfrm>
            <a:off x="548640" y="5577840"/>
            <a:ext cx="6583680" cy="548640"/>
          </a:xfrm>
          <a:prstGeom prst="rect">
            <a:avLst/>
          </a:prstGeom>
          <a:noFill/>
          <a:ln/>
        </p:spPr>
        <p:txBody>
          <a:bodyPr wrap="square" lIns="0" tIns="0" rIns="0" bIns="0" rtlCol="0" anchor="ctr"/>
          <a:lstStyle/>
          <a:p>
            <a:pPr indent="0" marL="0">
              <a:buNone/>
            </a:pPr>
            <a:r>
              <a:rPr lang="en-US" sz="1100" i="1" dirty="0">
                <a:solidFill>
                  <a:srgbClr val="8C8C8C"/>
                </a:solidFill>
                <a:latin typeface="Arial" pitchFamily="34" charset="0"/>
                <a:ea typeface="Arial" pitchFamily="34" charset="-122"/>
                <a:cs typeface="Arial" pitchFamily="34" charset="-120"/>
              </a:rPr>
              <a:t>The system uses suspended access equipment already certified and working under jetties of this kind, sized here into a fleet.</a:t>
            </a:r>
            <a:endParaRPr lang="en-US" sz="1100" dirty="0"/>
          </a:p>
        </p:txBody>
      </p:sp>
      <p:sp>
        <p:nvSpPr>
          <p:cNvPr id="20" name="Text 18"/>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A</a:t>
            </a:r>
            <a:endParaRPr lang="en-US" sz="900" dirty="0"/>
          </a:p>
        </p:txBody>
      </p:sp>
      <p:sp>
        <p:nvSpPr>
          <p:cNvPr id="21" name="Text 19"/>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Two ways to run it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Same platform system, same trade work. The difference is when the trades work.</a:t>
            </a:r>
            <a:endParaRPr lang="en-US" sz="1400" dirty="0"/>
          </a:p>
        </p:txBody>
      </p:sp>
      <p:sp>
        <p:nvSpPr>
          <p:cNvPr id="4" name="Shape 2"/>
          <p:cNvSpPr/>
          <p:nvPr/>
        </p:nvSpPr>
        <p:spPr>
          <a:xfrm>
            <a:off x="548640" y="1600200"/>
            <a:ext cx="5440680" cy="4206240"/>
          </a:xfrm>
          <a:prstGeom prst="roundRect">
            <a:avLst>
              <a:gd name="adj" fmla="val 1739"/>
            </a:avLst>
          </a:prstGeom>
          <a:solidFill>
            <a:srgbClr val="FFFFFF"/>
          </a:solidFill>
          <a:ln w="12700">
            <a:solidFill>
              <a:srgbClr val="E3E0DA"/>
            </a:solidFill>
            <a:prstDash val="solid"/>
          </a:ln>
        </p:spPr>
      </p:sp>
      <p:sp>
        <p:nvSpPr>
          <p:cNvPr id="5" name="Text 3"/>
          <p:cNvSpPr/>
          <p:nvPr/>
        </p:nvSpPr>
        <p:spPr>
          <a:xfrm>
            <a:off x="868680" y="1810512"/>
            <a:ext cx="4846320" cy="36576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Option 1  Base case</a:t>
            </a:r>
            <a:endParaRPr lang="en-US" sz="1800" dirty="0"/>
          </a:p>
        </p:txBody>
      </p:sp>
      <p:sp>
        <p:nvSpPr>
          <p:cNvPr id="6" name="Text 4"/>
          <p:cNvSpPr/>
          <p:nvPr/>
        </p:nvSpPr>
        <p:spPr>
          <a:xfrm>
            <a:off x="868680" y="2194560"/>
            <a:ext cx="4846320" cy="594360"/>
          </a:xfrm>
          <a:prstGeom prst="rect">
            <a:avLst/>
          </a:prstGeom>
          <a:noFill/>
          <a:ln/>
        </p:spPr>
        <p:txBody>
          <a:bodyPr wrap="square" lIns="0" tIns="0" rIns="0" bIns="0" rtlCol="0" anchor="ctr"/>
          <a:lstStyle/>
          <a:p>
            <a:pPr indent="0" marL="0">
              <a:buNone/>
            </a:pPr>
            <a:r>
              <a:rPr lang="en-US" sz="1200" dirty="0">
                <a:solidFill>
                  <a:srgbClr val="8C8C8C"/>
                </a:solidFill>
                <a:latin typeface="Arial" pitchFamily="34" charset="0"/>
                <a:ea typeface="Arial" pitchFamily="34" charset="-122"/>
                <a:cs typeface="Arial" pitchFamily="34" charset="-120"/>
              </a:rPr>
              <a:t>All work in daylight. Platforms move and trades work in the same six day week.</a:t>
            </a:r>
            <a:endParaRPr lang="en-US" sz="1200" dirty="0"/>
          </a:p>
        </p:txBody>
      </p:sp>
      <p:sp>
        <p:nvSpPr>
          <p:cNvPr id="7" name="Text 5"/>
          <p:cNvSpPr/>
          <p:nvPr/>
        </p:nvSpPr>
        <p:spPr>
          <a:xfrm>
            <a:off x="868680" y="2880360"/>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Work platforms operating</a:t>
            </a:r>
            <a:endParaRPr lang="en-US" sz="1250" dirty="0"/>
          </a:p>
        </p:txBody>
      </p:sp>
      <p:sp>
        <p:nvSpPr>
          <p:cNvPr id="8" name="Text 6"/>
          <p:cNvSpPr/>
          <p:nvPr/>
        </p:nvSpPr>
        <p:spPr>
          <a:xfrm>
            <a:off x="3749040" y="2880360"/>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9</a:t>
            </a:r>
            <a:endParaRPr lang="en-US" sz="1700" dirty="0"/>
          </a:p>
        </p:txBody>
      </p:sp>
      <p:sp>
        <p:nvSpPr>
          <p:cNvPr id="9" name="Text 7"/>
          <p:cNvSpPr/>
          <p:nvPr/>
        </p:nvSpPr>
        <p:spPr>
          <a:xfrm>
            <a:off x="868680" y="3538728"/>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People on the water or jetty</a:t>
            </a:r>
            <a:endParaRPr lang="en-US" sz="1250" dirty="0"/>
          </a:p>
        </p:txBody>
      </p:sp>
      <p:sp>
        <p:nvSpPr>
          <p:cNvPr id="10" name="Text 8"/>
          <p:cNvSpPr/>
          <p:nvPr/>
        </p:nvSpPr>
        <p:spPr>
          <a:xfrm>
            <a:off x="3749040" y="3538728"/>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about 57</a:t>
            </a:r>
            <a:endParaRPr lang="en-US" sz="1700" dirty="0"/>
          </a:p>
        </p:txBody>
      </p:sp>
      <p:sp>
        <p:nvSpPr>
          <p:cNvPr id="11" name="Text 9"/>
          <p:cNvSpPr/>
          <p:nvPr/>
        </p:nvSpPr>
        <p:spPr>
          <a:xfrm>
            <a:off x="868680" y="4197096"/>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Access cost</a:t>
            </a:r>
            <a:endParaRPr lang="en-US" sz="1250" dirty="0"/>
          </a:p>
        </p:txBody>
      </p:sp>
      <p:sp>
        <p:nvSpPr>
          <p:cNvPr id="12" name="Text 10"/>
          <p:cNvSpPr/>
          <p:nvPr/>
        </p:nvSpPr>
        <p:spPr>
          <a:xfrm>
            <a:off x="3749040" y="4197096"/>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$17.8M</a:t>
            </a:r>
            <a:endParaRPr lang="en-US" sz="1700" dirty="0"/>
          </a:p>
        </p:txBody>
      </p:sp>
      <p:sp>
        <p:nvSpPr>
          <p:cNvPr id="13" name="Text 11"/>
          <p:cNvSpPr/>
          <p:nvPr/>
        </p:nvSpPr>
        <p:spPr>
          <a:xfrm>
            <a:off x="868680" y="4855464"/>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Completion</a:t>
            </a:r>
            <a:endParaRPr lang="en-US" sz="1250" dirty="0"/>
          </a:p>
        </p:txBody>
      </p:sp>
      <p:sp>
        <p:nvSpPr>
          <p:cNvPr id="14" name="Text 12"/>
          <p:cNvSpPr/>
          <p:nvPr/>
        </p:nvSpPr>
        <p:spPr>
          <a:xfrm>
            <a:off x="3749040" y="4855464"/>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Oct 2028</a:t>
            </a:r>
            <a:endParaRPr lang="en-US" sz="1700" dirty="0"/>
          </a:p>
        </p:txBody>
      </p:sp>
      <p:sp>
        <p:nvSpPr>
          <p:cNvPr id="15" name="Shape 13"/>
          <p:cNvSpPr/>
          <p:nvPr/>
        </p:nvSpPr>
        <p:spPr>
          <a:xfrm>
            <a:off x="6217920" y="1600200"/>
            <a:ext cx="5440680" cy="4206240"/>
          </a:xfrm>
          <a:prstGeom prst="roundRect">
            <a:avLst>
              <a:gd name="adj" fmla="val 1739"/>
            </a:avLst>
          </a:prstGeom>
          <a:solidFill>
            <a:srgbClr val="FAF7F1"/>
          </a:solidFill>
          <a:ln w="31750">
            <a:solidFill>
              <a:srgbClr val="E87722"/>
            </a:solidFill>
            <a:prstDash val="solid"/>
          </a:ln>
        </p:spPr>
      </p:sp>
      <p:sp>
        <p:nvSpPr>
          <p:cNvPr id="16" name="Text 14"/>
          <p:cNvSpPr/>
          <p:nvPr/>
        </p:nvSpPr>
        <p:spPr>
          <a:xfrm>
            <a:off x="6537960" y="1810512"/>
            <a:ext cx="4846320" cy="365760"/>
          </a:xfrm>
          <a:prstGeom prst="rect">
            <a:avLst/>
          </a:prstGeom>
          <a:noFill/>
          <a:ln/>
        </p:spPr>
        <p:txBody>
          <a:bodyPr wrap="square" lIns="0" tIns="0" rIns="0" bIns="0" rtlCol="0" anchor="ctr"/>
          <a:lstStyle/>
          <a:p>
            <a:pPr indent="0" marL="0">
              <a:buNone/>
            </a:pPr>
            <a:r>
              <a:rPr lang="en-US" sz="1800" b="1" dirty="0">
                <a:solidFill>
                  <a:srgbClr val="E87722"/>
                </a:solidFill>
                <a:latin typeface="Georgia" pitchFamily="34" charset="0"/>
                <a:ea typeface="Georgia" pitchFamily="34" charset="-122"/>
                <a:cs typeface="Georgia" pitchFamily="34" charset="-120"/>
              </a:rPr>
              <a:t>Option 2  Optimised</a:t>
            </a:r>
            <a:endParaRPr lang="en-US" sz="1800" dirty="0"/>
          </a:p>
        </p:txBody>
      </p:sp>
      <p:sp>
        <p:nvSpPr>
          <p:cNvPr id="17" name="Text 15"/>
          <p:cNvSpPr/>
          <p:nvPr/>
        </p:nvSpPr>
        <p:spPr>
          <a:xfrm>
            <a:off x="6537960" y="2194560"/>
            <a:ext cx="4846320" cy="594360"/>
          </a:xfrm>
          <a:prstGeom prst="rect">
            <a:avLst/>
          </a:prstGeom>
          <a:noFill/>
          <a:ln/>
        </p:spPr>
        <p:txBody>
          <a:bodyPr wrap="square" lIns="0" tIns="0" rIns="0" bIns="0" rtlCol="0" anchor="ctr"/>
          <a:lstStyle/>
          <a:p>
            <a:pPr indent="0" marL="0">
              <a:buNone/>
            </a:pPr>
            <a:r>
              <a:rPr lang="en-US" sz="1200" dirty="0">
                <a:solidFill>
                  <a:srgbClr val="8C8C8C"/>
                </a:solidFill>
                <a:latin typeface="Arial" pitchFamily="34" charset="0"/>
                <a:ea typeface="Arial" pitchFamily="34" charset="-122"/>
                <a:cs typeface="Arial" pitchFamily="34" charset="-120"/>
              </a:rPr>
              <a:t>Trades also work at night on the secured platform. All boat moves and lifting stay in daylight.</a:t>
            </a:r>
            <a:endParaRPr lang="en-US" sz="1200" dirty="0"/>
          </a:p>
        </p:txBody>
      </p:sp>
      <p:sp>
        <p:nvSpPr>
          <p:cNvPr id="18" name="Text 16"/>
          <p:cNvSpPr/>
          <p:nvPr/>
        </p:nvSpPr>
        <p:spPr>
          <a:xfrm>
            <a:off x="6537960" y="2880360"/>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Work platforms operating</a:t>
            </a:r>
            <a:endParaRPr lang="en-US" sz="1250" dirty="0"/>
          </a:p>
        </p:txBody>
      </p:sp>
      <p:sp>
        <p:nvSpPr>
          <p:cNvPr id="19" name="Text 17"/>
          <p:cNvSpPr/>
          <p:nvPr/>
        </p:nvSpPr>
        <p:spPr>
          <a:xfrm>
            <a:off x="9418320" y="2880360"/>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6</a:t>
            </a:r>
            <a:endParaRPr lang="en-US" sz="1700" dirty="0"/>
          </a:p>
        </p:txBody>
      </p:sp>
      <p:sp>
        <p:nvSpPr>
          <p:cNvPr id="20" name="Text 18"/>
          <p:cNvSpPr/>
          <p:nvPr/>
        </p:nvSpPr>
        <p:spPr>
          <a:xfrm>
            <a:off x="6537960" y="3538728"/>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People on site, two shifts</a:t>
            </a:r>
            <a:endParaRPr lang="en-US" sz="1250" dirty="0"/>
          </a:p>
        </p:txBody>
      </p:sp>
      <p:sp>
        <p:nvSpPr>
          <p:cNvPr id="21" name="Text 19"/>
          <p:cNvSpPr/>
          <p:nvPr/>
        </p:nvSpPr>
        <p:spPr>
          <a:xfrm>
            <a:off x="9418320" y="3538728"/>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about 70</a:t>
            </a:r>
            <a:endParaRPr lang="en-US" sz="1700" dirty="0"/>
          </a:p>
        </p:txBody>
      </p:sp>
      <p:sp>
        <p:nvSpPr>
          <p:cNvPr id="22" name="Text 20"/>
          <p:cNvSpPr/>
          <p:nvPr/>
        </p:nvSpPr>
        <p:spPr>
          <a:xfrm>
            <a:off x="6537960" y="4197096"/>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Access cost</a:t>
            </a:r>
            <a:endParaRPr lang="en-US" sz="1250" dirty="0"/>
          </a:p>
        </p:txBody>
      </p:sp>
      <p:sp>
        <p:nvSpPr>
          <p:cNvPr id="23" name="Text 21"/>
          <p:cNvSpPr/>
          <p:nvPr/>
        </p:nvSpPr>
        <p:spPr>
          <a:xfrm>
            <a:off x="9418320" y="4197096"/>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$15.0M</a:t>
            </a:r>
            <a:endParaRPr lang="en-US" sz="1700" dirty="0"/>
          </a:p>
        </p:txBody>
      </p:sp>
      <p:sp>
        <p:nvSpPr>
          <p:cNvPr id="24" name="Text 22"/>
          <p:cNvSpPr/>
          <p:nvPr/>
        </p:nvSpPr>
        <p:spPr>
          <a:xfrm>
            <a:off x="6537960" y="4855464"/>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Completion</a:t>
            </a:r>
            <a:endParaRPr lang="en-US" sz="1250" dirty="0"/>
          </a:p>
        </p:txBody>
      </p:sp>
      <p:sp>
        <p:nvSpPr>
          <p:cNvPr id="25" name="Text 23"/>
          <p:cNvSpPr/>
          <p:nvPr/>
        </p:nvSpPr>
        <p:spPr>
          <a:xfrm>
            <a:off x="9418320" y="4855464"/>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Oct 2028</a:t>
            </a:r>
            <a:endParaRPr lang="en-US" sz="1700" dirty="0"/>
          </a:p>
        </p:txBody>
      </p:sp>
      <p:sp>
        <p:nvSpPr>
          <p:cNvPr id="26" name="Text 24"/>
          <p:cNvSpPr/>
          <p:nvPr/>
        </p:nvSpPr>
        <p:spPr>
          <a:xfrm>
            <a:off x="548640" y="5943600"/>
            <a:ext cx="11064240" cy="502920"/>
          </a:xfrm>
          <a:prstGeom prst="rect">
            <a:avLst/>
          </a:prstGeom>
          <a:noFill/>
          <a:ln/>
        </p:spPr>
        <p:txBody>
          <a:bodyPr wrap="square" lIns="0" tIns="0" rIns="0" bIns="0" rtlCol="0" anchor="ctr"/>
          <a:lstStyle/>
          <a:p>
            <a:pPr indent="0" marL="0">
              <a:buNone/>
            </a:pPr>
            <a:r>
              <a:rPr lang="en-US" sz="1100" i="1" dirty="0">
                <a:solidFill>
                  <a:srgbClr val="8C8C8C"/>
                </a:solidFill>
                <a:latin typeface="Arial" pitchFamily="34" charset="0"/>
                <a:ea typeface="Arial" pitchFamily="34" charset="-122"/>
                <a:cs typeface="Arial" pitchFamily="34" charset="-120"/>
              </a:rPr>
              <a:t>Under Option 2, night work is trade work on a fixed, lit, enclosed platform reached from the jetty deck. Nothing moves on the water after dark. Night working remains subject to a noise assessment and regulator engagement.</a:t>
            </a:r>
            <a:endParaRPr lang="en-US" sz="1100" dirty="0"/>
          </a:p>
        </p:txBody>
      </p:sp>
      <p:sp>
        <p:nvSpPr>
          <p:cNvPr id="27" name="Text 25"/>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A</a:t>
            </a:r>
            <a:endParaRPr lang="en-US" sz="900" dirty="0"/>
          </a:p>
        </p:txBody>
      </p:sp>
      <p:sp>
        <p:nvSpPr>
          <p:cNvPr id="28" name="Text 26"/>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Why Option 2: the answer stops moving</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Weather on this coast is the one input no study can pin down in advance.</a:t>
            </a:r>
            <a:endParaRPr lang="en-US" sz="1400" dirty="0"/>
          </a:p>
        </p:txBody>
      </p:sp>
      <p:graphicFrame>
        <p:nvGraphicFramePr>
          <p:cNvPr id="4" name="Chart 0" descr=""/>
          <p:cNvGraphicFramePr/>
          <p:nvPr/>
        </p:nvGraphicFramePr>
        <p:xfrm>
          <a:off x="548640" y="164592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949440" y="1737360"/>
            <a:ext cx="4663440" cy="402336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Option 1 needs eight, nine or ten platforms depending on how the weather lands. </a:t>
            </a:r>
            <a:pPr indent="0" marL="0">
              <a:buNone/>
            </a:pPr>
            <a:r>
              <a:rPr lang="en-US" sz="1400" dirty="0">
                <a:solidFill>
                  <a:srgbClr val="1A1A1A"/>
                </a:solidFill>
                <a:latin typeface="Arial" pitchFamily="34" charset="0"/>
                <a:ea typeface="Arial" pitchFamily="34" charset="-122"/>
                <a:cs typeface="Arial" pitchFamily="34" charset="-120"/>
              </a:rPr>
              <a:t>The fleet must be ordered before anyone knows.
</a:t>
            </a:r>
            <a:pPr indent="0" marL="0">
              <a:buNone/>
            </a:pPr>
            <a:r>
              <a:rPr lang="en-US" sz="1400" b="1" dirty="0">
                <a:solidFill>
                  <a:srgbClr val="E87722"/>
                </a:solidFill>
                <a:latin typeface="Arial" pitchFamily="34" charset="0"/>
                <a:ea typeface="Arial" pitchFamily="34" charset="-122"/>
                <a:cs typeface="Arial" pitchFamily="34" charset="-120"/>
              </a:rPr>
              <a:t>Option 2 needs six, in almost every case. </a:t>
            </a:r>
            <a:pPr indent="0" marL="0">
              <a:buNone/>
            </a:pPr>
            <a:r>
              <a:rPr lang="en-US" sz="1400" dirty="0">
                <a:solidFill>
                  <a:srgbClr val="1A1A1A"/>
                </a:solidFill>
                <a:latin typeface="Arial" pitchFamily="34" charset="0"/>
                <a:ea typeface="Arial" pitchFamily="34" charset="-122"/>
                <a:cs typeface="Arial" pitchFamily="34" charset="-120"/>
              </a:rPr>
              <a:t>Working the trades day and night halves the time each pilebent is exposed to the weather, so bad seasons cost days, not extra vessels.
</a:t>
            </a:r>
            <a:pPr indent="0" marL="0">
              <a:buNone/>
            </a:pPr>
            <a:r>
              <a:rPr lang="en-US" sz="1400" dirty="0">
                <a:solidFill>
                  <a:srgbClr val="1A1A1A"/>
                </a:solidFill>
                <a:latin typeface="Arial" pitchFamily="34" charset="0"/>
                <a:ea typeface="Arial" pitchFamily="34" charset="-122"/>
                <a:cs typeface="Arial" pitchFamily="34" charset="-120"/>
              </a:rPr>
              <a:t>Fewer platforms also means less new equipment to fabricate before a March 2027 start, which is the tightest lead time in the programme.</a:t>
            </a:r>
            <a:endParaRPr lang="en-US" sz="1400" dirty="0"/>
          </a:p>
        </p:txBody>
      </p:sp>
      <p:sp>
        <p:nvSpPr>
          <p:cNvPr id="6" name="Text 3"/>
          <p:cNvSpPr/>
          <p:nvPr/>
        </p:nvSpPr>
        <p:spPr>
          <a:xfrm>
            <a:off x="548640" y="5852160"/>
            <a:ext cx="11064240" cy="457200"/>
          </a:xfrm>
          <a:prstGeom prst="rect">
            <a:avLst/>
          </a:prstGeom>
          <a:noFill/>
          <a:ln/>
        </p:spPr>
        <p:txBody>
          <a:bodyPr wrap="square" lIns="0" tIns="0" rIns="0" bIns="0" rtlCol="0" anchor="ctr"/>
          <a:lstStyle/>
          <a:p>
            <a:pPr indent="0" marL="0">
              <a:buNone/>
            </a:pPr>
            <a:r>
              <a:rPr lang="en-US" sz="1500" i="1" dirty="0">
                <a:solidFill>
                  <a:srgbClr val="1A1A1A"/>
                </a:solidFill>
                <a:latin typeface="Georgia" pitchFamily="34" charset="0"/>
                <a:ea typeface="Georgia" pitchFamily="34" charset="-122"/>
                <a:cs typeface="Georgia" pitchFamily="34" charset="-120"/>
              </a:rPr>
              <a:t>A commitment that holds still when the weather is known is worth more than a cheaper one that moves.</a:t>
            </a:r>
            <a:endParaRPr lang="en-US" sz="1500" dirty="0"/>
          </a:p>
        </p:txBody>
      </p:sp>
      <p:sp>
        <p:nvSpPr>
          <p:cNvPr id="7" name="Text 4"/>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A</a:t>
            </a:r>
            <a:endParaRPr lang="en-US" sz="900" dirty="0"/>
          </a:p>
        </p:txBody>
      </p:sp>
      <p:sp>
        <p:nvSpPr>
          <p:cNvPr id="8" name="Text 5"/>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What the outcome costs</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Compared like for like: access provision against access provision. The trade works are identical on both sides.</a:t>
            </a:r>
            <a:endParaRPr lang="en-US" sz="1400" dirty="0"/>
          </a:p>
        </p:txBody>
      </p:sp>
      <p:graphicFrame>
        <p:nvGraphicFramePr>
          <p:cNvPr id="4" name="Chart 0" descr=""/>
          <p:cNvGraphicFramePr/>
          <p:nvPr/>
        </p:nvGraphicFramePr>
        <p:xfrm>
          <a:off x="548640" y="1691640"/>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914400" y="5303520"/>
            <a:ext cx="2651760" cy="640080"/>
          </a:xfrm>
          <a:prstGeom prst="rect">
            <a:avLst/>
          </a:prstGeom>
          <a:noFill/>
          <a:ln/>
        </p:spPr>
        <p:txBody>
          <a:bodyPr wrap="square" lIns="0" tIns="0" rIns="0" bIns="0" rtlCol="0" anchor="ctr"/>
          <a:lstStyle/>
          <a:p>
            <a:pPr algn="ctr" indent="0" marL="0">
              <a:buNone/>
            </a:pPr>
            <a:r>
              <a:rPr lang="en-US" sz="1100" dirty="0">
                <a:solidFill>
                  <a:srgbClr val="8C8C8C"/>
                </a:solidFill>
                <a:latin typeface="Arial" pitchFamily="34" charset="0"/>
                <a:ea typeface="Arial" pitchFamily="34" charset="-122"/>
                <a:cs typeface="Arial" pitchFamily="34" charset="-120"/>
              </a:rPr>
              <a:t>Buys 0.36 per week</a:t>
            </a:r>
            <a:endParaRPr lang="en-US" sz="1100" dirty="0"/>
          </a:p>
          <a:p>
            <a:pPr algn="ctr" indent="0" marL="0">
              <a:buNone/>
            </a:pPr>
            <a:r>
              <a:rPr lang="en-US" sz="1100" dirty="0">
                <a:solidFill>
                  <a:srgbClr val="8C8C8C"/>
                </a:solidFill>
                <a:latin typeface="Arial" pitchFamily="34" charset="0"/>
                <a:ea typeface="Arial" pitchFamily="34" charset="-122"/>
                <a:cs typeface="Arial" pitchFamily="34" charset="-120"/>
              </a:rPr>
              <a:t>Finish beyond 2035</a:t>
            </a:r>
            <a:endParaRPr lang="en-US" sz="1100" dirty="0"/>
          </a:p>
        </p:txBody>
      </p:sp>
      <p:sp>
        <p:nvSpPr>
          <p:cNvPr id="6" name="Text 3"/>
          <p:cNvSpPr/>
          <p:nvPr/>
        </p:nvSpPr>
        <p:spPr>
          <a:xfrm>
            <a:off x="3657600" y="5303520"/>
            <a:ext cx="2651760" cy="640080"/>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Buys 4.5 to 5.1 per week</a:t>
            </a:r>
            <a:endParaRPr lang="en-US" sz="1100" dirty="0"/>
          </a:p>
          <a:p>
            <a:pPr algn="ctr" indent="0" marL="0">
              <a:buNone/>
            </a:pPr>
            <a:r>
              <a:rPr lang="en-US" sz="1100" b="1" dirty="0">
                <a:solidFill>
                  <a:srgbClr val="1A1A1A"/>
                </a:solidFill>
                <a:latin typeface="Arial" pitchFamily="34" charset="0"/>
                <a:ea typeface="Arial" pitchFamily="34" charset="-122"/>
                <a:cs typeface="Arial" pitchFamily="34" charset="-120"/>
              </a:rPr>
              <a:t>Finish October 2028</a:t>
            </a:r>
            <a:endParaRPr lang="en-US" sz="1100" dirty="0"/>
          </a:p>
        </p:txBody>
      </p:sp>
      <p:sp>
        <p:nvSpPr>
          <p:cNvPr id="7" name="Shape 4"/>
          <p:cNvSpPr/>
          <p:nvPr/>
        </p:nvSpPr>
        <p:spPr>
          <a:xfrm>
            <a:off x="6675120" y="1783080"/>
            <a:ext cx="4937760" cy="3291840"/>
          </a:xfrm>
          <a:prstGeom prst="roundRect">
            <a:avLst>
              <a:gd name="adj" fmla="val 2222"/>
            </a:avLst>
          </a:prstGeom>
          <a:solidFill>
            <a:srgbClr val="1A1A1A"/>
          </a:solidFill>
          <a:ln/>
        </p:spPr>
      </p:sp>
      <p:sp>
        <p:nvSpPr>
          <p:cNvPr id="8" name="Text 5"/>
          <p:cNvSpPr/>
          <p:nvPr/>
        </p:nvSpPr>
        <p:spPr>
          <a:xfrm>
            <a:off x="6949440" y="2103120"/>
            <a:ext cx="4389120" cy="731520"/>
          </a:xfrm>
          <a:prstGeom prst="rect">
            <a:avLst/>
          </a:prstGeom>
          <a:noFill/>
          <a:ln/>
        </p:spPr>
        <p:txBody>
          <a:bodyPr wrap="square" lIns="0" tIns="0" rIns="0" bIns="0" rtlCol="0" anchor="ctr"/>
          <a:lstStyle/>
          <a:p>
            <a:pPr indent="0" marL="0">
              <a:buNone/>
            </a:pPr>
            <a:r>
              <a:rPr lang="en-US" sz="3800" b="1" dirty="0">
                <a:solidFill>
                  <a:srgbClr val="E87722"/>
                </a:solidFill>
                <a:latin typeface="Georgia" pitchFamily="34" charset="0"/>
                <a:ea typeface="Georgia" pitchFamily="34" charset="-122"/>
                <a:cs typeface="Georgia" pitchFamily="34" charset="-120"/>
              </a:rPr>
              <a:t>$5.7M more</a:t>
            </a:r>
            <a:endParaRPr lang="en-US" sz="3800" dirty="0"/>
          </a:p>
        </p:txBody>
      </p:sp>
      <p:sp>
        <p:nvSpPr>
          <p:cNvPr id="9" name="Text 6"/>
          <p:cNvSpPr/>
          <p:nvPr/>
        </p:nvSpPr>
        <p:spPr>
          <a:xfrm>
            <a:off x="6949440" y="2880360"/>
            <a:ext cx="4389120" cy="9144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is the difference between finishing beyond 2035 and finishing in October 2028.</a:t>
            </a:r>
            <a:endParaRPr lang="en-US" sz="1600" dirty="0"/>
          </a:p>
        </p:txBody>
      </p:sp>
      <p:sp>
        <p:nvSpPr>
          <p:cNvPr id="10" name="Text 7"/>
          <p:cNvSpPr/>
          <p:nvPr/>
        </p:nvSpPr>
        <p:spPr>
          <a:xfrm>
            <a:off x="6949440" y="3977640"/>
            <a:ext cx="4389120" cy="822960"/>
          </a:xfrm>
          <a:prstGeom prst="rect">
            <a:avLst/>
          </a:prstGeom>
          <a:noFill/>
          <a:ln/>
        </p:spPr>
        <p:txBody>
          <a:bodyPr wrap="square" lIns="0" tIns="0" rIns="0" bIns="0" rtlCol="0" anchor="ctr"/>
          <a:lstStyle/>
          <a:p>
            <a:pPr indent="0" marL="0">
              <a:buNone/>
            </a:pPr>
            <a:r>
              <a:rPr lang="en-US" sz="1300" i="1" dirty="0">
                <a:solidFill>
                  <a:srgbClr val="CFCFCF"/>
                </a:solidFill>
                <a:latin typeface="Arial" pitchFamily="34" charset="0"/>
                <a:ea typeface="Arial" pitchFamily="34" charset="-122"/>
                <a:cs typeface="Arial" pitchFamily="34" charset="-120"/>
              </a:rPr>
              <a:t>1.6 times the access provision, for twelve times the delivered rate.</a:t>
            </a:r>
            <a:endParaRPr lang="en-US" sz="1300" dirty="0"/>
          </a:p>
        </p:txBody>
      </p:sp>
      <p:sp>
        <p:nvSpPr>
          <p:cNvPr id="11" name="Text 8"/>
          <p:cNvSpPr/>
          <p:nvPr/>
        </p:nvSpPr>
        <p:spPr>
          <a:xfrm>
            <a:off x="548640" y="5989320"/>
            <a:ext cx="11064240" cy="502920"/>
          </a:xfrm>
          <a:prstGeom prst="rect">
            <a:avLst/>
          </a:prstGeom>
          <a:noFill/>
          <a:ln/>
        </p:spPr>
        <p:txBody>
          <a:bodyPr wrap="square" lIns="0" tIns="0" rIns="0" bIns="0" rtlCol="0" anchor="ctr"/>
          <a:lstStyle/>
          <a:p>
            <a:pPr indent="0" marL="0">
              <a:buNone/>
            </a:pPr>
            <a:r>
              <a:rPr lang="en-US" sz="950" dirty="0">
                <a:solidFill>
                  <a:srgbClr val="8C8C8C"/>
                </a:solidFill>
                <a:latin typeface="Arial" pitchFamily="34" charset="0"/>
                <a:ea typeface="Arial" pitchFamily="34" charset="-122"/>
                <a:cs typeface="Arial" pitchFamily="34" charset="-120"/>
              </a:rPr>
              <a:t>Screening estimates (AACE Class 5, roughly minus 30 to plus 50 percent). Excludes platform fabrication, insurances, permits, port charges, accommodation and escalation, each identified for pricing at the next stage. Current method figure is the contract access allowance, to be confirmed.</a:t>
            </a:r>
            <a:endParaRPr lang="en-US" sz="950" dirty="0"/>
          </a:p>
        </p:txBody>
      </p:sp>
      <p:sp>
        <p:nvSpPr>
          <p:cNvPr id="12" name="Text 9"/>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A</a:t>
            </a:r>
            <a:endParaRPr lang="en-US" sz="900" dirty="0"/>
          </a:p>
        </p:txBody>
      </p:sp>
      <p:sp>
        <p:nvSpPr>
          <p:cNvPr id="13" name="Text 10"/>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Committing safely: pay for proof before the fleet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No study can know the true production rate. So the rate is measured before the money is committed.</a:t>
            </a:r>
            <a:endParaRPr lang="en-US" sz="1400" dirty="0"/>
          </a:p>
        </p:txBody>
      </p:sp>
      <p:sp>
        <p:nvSpPr>
          <p:cNvPr id="4" name="Shape 2"/>
          <p:cNvSpPr/>
          <p:nvPr/>
        </p:nvSpPr>
        <p:spPr>
          <a:xfrm>
            <a:off x="548640" y="1737360"/>
            <a:ext cx="3520440" cy="3291840"/>
          </a:xfrm>
          <a:prstGeom prst="roundRect">
            <a:avLst>
              <a:gd name="adj" fmla="val 2222"/>
            </a:avLst>
          </a:prstGeom>
          <a:solidFill>
            <a:srgbClr val="FFFFFF"/>
          </a:solidFill>
          <a:ln w="12700">
            <a:solidFill>
              <a:srgbClr val="E3E0DA"/>
            </a:solidFill>
            <a:prstDash val="solid"/>
          </a:ln>
        </p:spPr>
      </p:sp>
      <p:sp>
        <p:nvSpPr>
          <p:cNvPr id="5" name="Shape 3"/>
          <p:cNvSpPr/>
          <p:nvPr/>
        </p:nvSpPr>
        <p:spPr>
          <a:xfrm>
            <a:off x="822960" y="1965960"/>
            <a:ext cx="502920" cy="502920"/>
          </a:xfrm>
          <a:prstGeom prst="ellipse">
            <a:avLst/>
          </a:prstGeom>
          <a:solidFill>
            <a:srgbClr val="E87722"/>
          </a:solidFill>
          <a:ln/>
        </p:spPr>
      </p:sp>
      <p:sp>
        <p:nvSpPr>
          <p:cNvPr id="6" name="Text 4"/>
          <p:cNvSpPr/>
          <p:nvPr/>
        </p:nvSpPr>
        <p:spPr>
          <a:xfrm>
            <a:off x="82296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822960" y="2606040"/>
            <a:ext cx="2971800" cy="411480"/>
          </a:xfrm>
          <a:prstGeom prst="rect">
            <a:avLst/>
          </a:prstGeom>
          <a:noFill/>
          <a:ln/>
        </p:spPr>
        <p:txBody>
          <a:bodyPr wrap="square" lIns="0" tIns="0" rIns="0" bIns="0" rtlCol="0" anchor="ctr"/>
          <a:lstStyle/>
          <a:p>
            <a:pPr indent="0" marL="0">
              <a:buNone/>
            </a:pPr>
            <a:r>
              <a:rPr lang="en-US" sz="1700" b="1" dirty="0">
                <a:solidFill>
                  <a:srgbClr val="1A1A1A"/>
                </a:solidFill>
                <a:latin typeface="Georgia" pitchFamily="34" charset="0"/>
                <a:ea typeface="Georgia" pitchFamily="34" charset="-122"/>
                <a:cs typeface="Georgia" pitchFamily="34" charset="-120"/>
              </a:rPr>
              <a:t>Trial fortnight</a:t>
            </a:r>
            <a:endParaRPr lang="en-US" sz="1700" dirty="0"/>
          </a:p>
        </p:txBody>
      </p:sp>
      <p:sp>
        <p:nvSpPr>
          <p:cNvPr id="8" name="Text 6"/>
          <p:cNvSpPr/>
          <p:nvPr/>
        </p:nvSpPr>
        <p:spPr>
          <a:xfrm>
            <a:off x="822960" y="3063240"/>
            <a:ext cx="2971800" cy="123444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One platform, the first pilebents. Every duration in this study is measured on the real structure in the real weather.</a:t>
            </a:r>
            <a:endParaRPr lang="en-US" sz="1200" dirty="0"/>
          </a:p>
        </p:txBody>
      </p:sp>
      <p:sp>
        <p:nvSpPr>
          <p:cNvPr id="9" name="Text 7"/>
          <p:cNvSpPr/>
          <p:nvPr/>
        </p:nvSpPr>
        <p:spPr>
          <a:xfrm>
            <a:off x="822960" y="4343400"/>
            <a:ext cx="2971800" cy="548640"/>
          </a:xfrm>
          <a:prstGeom prst="rect">
            <a:avLst/>
          </a:prstGeom>
          <a:noFill/>
          <a:ln/>
        </p:spPr>
        <p:txBody>
          <a:bodyPr wrap="square" lIns="0" tIns="0" rIns="0" bIns="0" rtlCol="0" anchor="t"/>
          <a:lstStyle/>
          <a:p>
            <a:pPr indent="0" marL="0">
              <a:buNone/>
            </a:pPr>
            <a:r>
              <a:rPr lang="en-US" sz="1100" i="1" dirty="0">
                <a:solidFill>
                  <a:srgbClr val="8C8C8C"/>
                </a:solidFill>
                <a:latin typeface="Arial" pitchFamily="34" charset="0"/>
                <a:ea typeface="Arial" pitchFamily="34" charset="-122"/>
                <a:cs typeface="Arial" pitchFamily="34" charset="-120"/>
              </a:rPr>
              <a:t>Cost: a fraction of one season</a:t>
            </a:r>
            <a:endParaRPr lang="en-US" sz="1100" dirty="0"/>
          </a:p>
        </p:txBody>
      </p:sp>
      <p:sp>
        <p:nvSpPr>
          <p:cNvPr id="10" name="Text 8"/>
          <p:cNvSpPr/>
          <p:nvPr/>
        </p:nvSpPr>
        <p:spPr>
          <a:xfrm>
            <a:off x="4087368" y="3063240"/>
            <a:ext cx="329184" cy="457200"/>
          </a:xfrm>
          <a:prstGeom prst="rect">
            <a:avLst/>
          </a:prstGeom>
          <a:noFill/>
          <a:ln/>
        </p:spPr>
        <p:txBody>
          <a:bodyPr wrap="square" lIns="0" tIns="0" rIns="0" bIns="0" rtlCol="0" anchor="ctr"/>
          <a:lstStyle/>
          <a:p>
            <a:pPr algn="ctr" indent="0" marL="0">
              <a:buNone/>
            </a:pPr>
            <a:r>
              <a:rPr lang="en-US" sz="2200" b="1" dirty="0">
                <a:solidFill>
                  <a:srgbClr val="8C8C8C"/>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4434840" y="1737360"/>
            <a:ext cx="3520440" cy="3291840"/>
          </a:xfrm>
          <a:prstGeom prst="roundRect">
            <a:avLst>
              <a:gd name="adj" fmla="val 2222"/>
            </a:avLst>
          </a:prstGeom>
          <a:solidFill>
            <a:srgbClr val="FFFFFF"/>
          </a:solidFill>
          <a:ln w="12700">
            <a:solidFill>
              <a:srgbClr val="E3E0DA"/>
            </a:solidFill>
            <a:prstDash val="solid"/>
          </a:ln>
        </p:spPr>
      </p:sp>
      <p:sp>
        <p:nvSpPr>
          <p:cNvPr id="12" name="Shape 10"/>
          <p:cNvSpPr/>
          <p:nvPr/>
        </p:nvSpPr>
        <p:spPr>
          <a:xfrm>
            <a:off x="4709160" y="1965960"/>
            <a:ext cx="502920" cy="502920"/>
          </a:xfrm>
          <a:prstGeom prst="ellipse">
            <a:avLst/>
          </a:prstGeom>
          <a:solidFill>
            <a:srgbClr val="E87722"/>
          </a:solidFill>
          <a:ln/>
        </p:spPr>
      </p:sp>
      <p:sp>
        <p:nvSpPr>
          <p:cNvPr id="13" name="Text 11"/>
          <p:cNvSpPr/>
          <p:nvPr/>
        </p:nvSpPr>
        <p:spPr>
          <a:xfrm>
            <a:off x="470916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4709160" y="2606040"/>
            <a:ext cx="2971800" cy="411480"/>
          </a:xfrm>
          <a:prstGeom prst="rect">
            <a:avLst/>
          </a:prstGeom>
          <a:noFill/>
          <a:ln/>
        </p:spPr>
        <p:txBody>
          <a:bodyPr wrap="square" lIns="0" tIns="0" rIns="0" bIns="0" rtlCol="0" anchor="ctr"/>
          <a:lstStyle/>
          <a:p>
            <a:pPr indent="0" marL="0">
              <a:buNone/>
            </a:pPr>
            <a:r>
              <a:rPr lang="en-US" sz="1700" b="1" dirty="0">
                <a:solidFill>
                  <a:srgbClr val="1A1A1A"/>
                </a:solidFill>
                <a:latin typeface="Georgia" pitchFamily="34" charset="0"/>
                <a:ea typeface="Georgia" pitchFamily="34" charset="-122"/>
                <a:cs typeface="Georgia" pitchFamily="34" charset="-120"/>
              </a:rPr>
              <a:t>Proving campaign</a:t>
            </a:r>
            <a:endParaRPr lang="en-US" sz="1700" dirty="0"/>
          </a:p>
        </p:txBody>
      </p:sp>
      <p:sp>
        <p:nvSpPr>
          <p:cNvPr id="15" name="Text 13"/>
          <p:cNvSpPr/>
          <p:nvPr/>
        </p:nvSpPr>
        <p:spPr>
          <a:xfrm>
            <a:off x="4709160" y="3063240"/>
            <a:ext cx="2971800" cy="123444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The chosen contractor demonstrates the rate with a small fleet against the tendered production plan.</a:t>
            </a:r>
            <a:endParaRPr lang="en-US" sz="1200" dirty="0"/>
          </a:p>
        </p:txBody>
      </p:sp>
      <p:sp>
        <p:nvSpPr>
          <p:cNvPr id="16" name="Text 14"/>
          <p:cNvSpPr/>
          <p:nvPr/>
        </p:nvSpPr>
        <p:spPr>
          <a:xfrm>
            <a:off x="4709160" y="4343400"/>
            <a:ext cx="2971800" cy="548640"/>
          </a:xfrm>
          <a:prstGeom prst="rect">
            <a:avLst/>
          </a:prstGeom>
          <a:noFill/>
          <a:ln/>
        </p:spPr>
        <p:txBody>
          <a:bodyPr wrap="square" lIns="0" tIns="0" rIns="0" bIns="0" rtlCol="0" anchor="t"/>
          <a:lstStyle/>
          <a:p>
            <a:pPr indent="0" marL="0">
              <a:buNone/>
            </a:pPr>
            <a:r>
              <a:rPr lang="en-US" sz="1100" i="1" dirty="0">
                <a:solidFill>
                  <a:srgbClr val="8C8C8C"/>
                </a:solidFill>
                <a:latin typeface="Arial" pitchFamily="34" charset="0"/>
                <a:ea typeface="Arial" pitchFamily="34" charset="-122"/>
                <a:cs typeface="Arial" pitchFamily="34" charset="-120"/>
              </a:rPr>
              <a:t>STL holds a defined exit if the rate is not demonstrated</a:t>
            </a:r>
            <a:endParaRPr lang="en-US" sz="1100" dirty="0"/>
          </a:p>
        </p:txBody>
      </p:sp>
      <p:sp>
        <p:nvSpPr>
          <p:cNvPr id="17" name="Text 15"/>
          <p:cNvSpPr/>
          <p:nvPr/>
        </p:nvSpPr>
        <p:spPr>
          <a:xfrm>
            <a:off x="7973568" y="3063240"/>
            <a:ext cx="329184" cy="457200"/>
          </a:xfrm>
          <a:prstGeom prst="rect">
            <a:avLst/>
          </a:prstGeom>
          <a:noFill/>
          <a:ln/>
        </p:spPr>
        <p:txBody>
          <a:bodyPr wrap="square" lIns="0" tIns="0" rIns="0" bIns="0" rtlCol="0" anchor="ctr"/>
          <a:lstStyle/>
          <a:p>
            <a:pPr algn="ctr" indent="0" marL="0">
              <a:buNone/>
            </a:pPr>
            <a:r>
              <a:rPr lang="en-US" sz="2200" b="1" dirty="0">
                <a:solidFill>
                  <a:srgbClr val="8C8C8C"/>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8321040" y="1737360"/>
            <a:ext cx="3520440" cy="3291840"/>
          </a:xfrm>
          <a:prstGeom prst="roundRect">
            <a:avLst>
              <a:gd name="adj" fmla="val 2222"/>
            </a:avLst>
          </a:prstGeom>
          <a:solidFill>
            <a:srgbClr val="FAF7F1"/>
          </a:solidFill>
          <a:ln w="25400">
            <a:solidFill>
              <a:srgbClr val="E87722"/>
            </a:solidFill>
            <a:prstDash val="solid"/>
          </a:ln>
        </p:spPr>
      </p:sp>
      <p:sp>
        <p:nvSpPr>
          <p:cNvPr id="19" name="Shape 17"/>
          <p:cNvSpPr/>
          <p:nvPr/>
        </p:nvSpPr>
        <p:spPr>
          <a:xfrm>
            <a:off x="8595360" y="1965960"/>
            <a:ext cx="502920" cy="502920"/>
          </a:xfrm>
          <a:prstGeom prst="ellipse">
            <a:avLst/>
          </a:prstGeom>
          <a:solidFill>
            <a:srgbClr val="E87722"/>
          </a:solidFill>
          <a:ln/>
        </p:spPr>
      </p:sp>
      <p:sp>
        <p:nvSpPr>
          <p:cNvPr id="20" name="Text 18"/>
          <p:cNvSpPr/>
          <p:nvPr/>
        </p:nvSpPr>
        <p:spPr>
          <a:xfrm>
            <a:off x="859536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1" name="Text 19"/>
          <p:cNvSpPr/>
          <p:nvPr/>
        </p:nvSpPr>
        <p:spPr>
          <a:xfrm>
            <a:off x="8595360" y="2606040"/>
            <a:ext cx="2971800" cy="411480"/>
          </a:xfrm>
          <a:prstGeom prst="rect">
            <a:avLst/>
          </a:prstGeom>
          <a:noFill/>
          <a:ln/>
        </p:spPr>
        <p:txBody>
          <a:bodyPr wrap="square" lIns="0" tIns="0" rIns="0" bIns="0" rtlCol="0" anchor="ctr"/>
          <a:lstStyle/>
          <a:p>
            <a:pPr indent="0" marL="0">
              <a:buNone/>
            </a:pPr>
            <a:r>
              <a:rPr lang="en-US" sz="1700" b="1" dirty="0">
                <a:solidFill>
                  <a:srgbClr val="1A1A1A"/>
                </a:solidFill>
                <a:latin typeface="Georgia" pitchFamily="34" charset="0"/>
                <a:ea typeface="Georgia" pitchFamily="34" charset="-122"/>
                <a:cs typeface="Georgia" pitchFamily="34" charset="-120"/>
              </a:rPr>
              <a:t>Fleet order on the measured rate</a:t>
            </a:r>
            <a:endParaRPr lang="en-US" sz="1700" dirty="0"/>
          </a:p>
        </p:txBody>
      </p:sp>
      <p:sp>
        <p:nvSpPr>
          <p:cNvPr id="22" name="Text 20"/>
          <p:cNvSpPr/>
          <p:nvPr/>
        </p:nvSpPr>
        <p:spPr>
          <a:xfrm>
            <a:off x="8595360" y="3063240"/>
            <a:ext cx="2971800" cy="123444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The full fleet and the full term are committed only on the demonstrated cycle, not an assumed one.</a:t>
            </a:r>
            <a:endParaRPr lang="en-US" sz="1200" dirty="0"/>
          </a:p>
        </p:txBody>
      </p:sp>
      <p:sp>
        <p:nvSpPr>
          <p:cNvPr id="23" name="Text 21"/>
          <p:cNvSpPr/>
          <p:nvPr/>
        </p:nvSpPr>
        <p:spPr>
          <a:xfrm>
            <a:off x="8595360" y="4343400"/>
            <a:ext cx="2971800" cy="548640"/>
          </a:xfrm>
          <a:prstGeom prst="rect">
            <a:avLst/>
          </a:prstGeom>
          <a:noFill/>
          <a:ln/>
        </p:spPr>
        <p:txBody>
          <a:bodyPr wrap="square" lIns="0" tIns="0" rIns="0" bIns="0" rtlCol="0" anchor="t"/>
          <a:lstStyle/>
          <a:p>
            <a:pPr indent="0" marL="0">
              <a:buNone/>
            </a:pPr>
            <a:r>
              <a:rPr lang="en-US" sz="1100" i="1" dirty="0">
                <a:solidFill>
                  <a:srgbClr val="8C8C8C"/>
                </a:solidFill>
                <a:latin typeface="Arial" pitchFamily="34" charset="0"/>
                <a:ea typeface="Arial" pitchFamily="34" charset="-122"/>
                <a:cs typeface="Arial" pitchFamily="34" charset="-120"/>
              </a:rPr>
              <a:t>Payment runs on completed, quality closed pilebents per week</a:t>
            </a:r>
            <a:endParaRPr lang="en-US" sz="1100" dirty="0"/>
          </a:p>
        </p:txBody>
      </p:sp>
      <p:sp>
        <p:nvSpPr>
          <p:cNvPr id="24" name="Text 22"/>
          <p:cNvSpPr/>
          <p:nvPr/>
        </p:nvSpPr>
        <p:spPr>
          <a:xfrm>
            <a:off x="548640" y="5349240"/>
            <a:ext cx="11064240" cy="64008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market is asked to conform to this concept or beat it, scored on one framework where production capability outweighs price. Method risk stays with the contractor who chose the method.</a:t>
            </a:r>
            <a:endParaRPr lang="en-US" sz="1300" dirty="0"/>
          </a:p>
        </p:txBody>
      </p:sp>
      <p:sp>
        <p:nvSpPr>
          <p:cNvPr id="25" name="Text 23"/>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A</a:t>
            </a:r>
            <a:endParaRPr lang="en-US" sz="900" dirty="0"/>
          </a:p>
        </p:txBody>
      </p:sp>
      <p:sp>
        <p:nvSpPr>
          <p:cNvPr id="26" name="Text 24"/>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Decisions sought, and the path to the water</a:t>
            </a:r>
            <a:endParaRPr lang="en-US" sz="2800" dirty="0"/>
          </a:p>
        </p:txBody>
      </p:sp>
      <p:sp>
        <p:nvSpPr>
          <p:cNvPr id="3" name="Shape 1"/>
          <p:cNvSpPr/>
          <p:nvPr/>
        </p:nvSpPr>
        <p:spPr>
          <a:xfrm>
            <a:off x="1234440" y="1417320"/>
            <a:ext cx="256032" cy="256032"/>
          </a:xfrm>
          <a:prstGeom prst="ellipse">
            <a:avLst/>
          </a:prstGeom>
          <a:solidFill>
            <a:srgbClr val="E87722"/>
          </a:solidFill>
          <a:ln/>
        </p:spPr>
      </p:sp>
      <p:sp>
        <p:nvSpPr>
          <p:cNvPr id="4" name="Shape 2"/>
          <p:cNvSpPr/>
          <p:nvPr/>
        </p:nvSpPr>
        <p:spPr>
          <a:xfrm>
            <a:off x="1490472" y="1545336"/>
            <a:ext cx="1627632" cy="0"/>
          </a:xfrm>
          <a:prstGeom prst="line">
            <a:avLst/>
          </a:prstGeom>
          <a:noFill/>
          <a:ln w="19050">
            <a:solidFill>
              <a:srgbClr val="8C8C8C"/>
            </a:solidFill>
            <a:prstDash val="solid"/>
          </a:ln>
        </p:spPr>
      </p:sp>
      <p:sp>
        <p:nvSpPr>
          <p:cNvPr id="5" name="Text 3"/>
          <p:cNvSpPr/>
          <p:nvPr/>
        </p:nvSpPr>
        <p:spPr>
          <a:xfrm>
            <a:off x="548640" y="1783080"/>
            <a:ext cx="1737360" cy="320040"/>
          </a:xfrm>
          <a:prstGeom prst="rect">
            <a:avLst/>
          </a:prstGeom>
          <a:noFill/>
          <a:ln/>
        </p:spPr>
        <p:txBody>
          <a:bodyPr wrap="square" lIns="0" tIns="0" rIns="0" bIns="0" rtlCol="0" anchor="ctr"/>
          <a:lstStyle/>
          <a:p>
            <a:pPr algn="ctr" indent="0" marL="0">
              <a:buNone/>
            </a:pPr>
            <a:r>
              <a:rPr lang="en-US" sz="1100" b="1" dirty="0">
                <a:solidFill>
                  <a:srgbClr val="E87722"/>
                </a:solidFill>
                <a:latin typeface="Arial" pitchFamily="34" charset="0"/>
                <a:ea typeface="Arial" pitchFamily="34" charset="-122"/>
                <a:cs typeface="Arial" pitchFamily="34" charset="-120"/>
              </a:rPr>
              <a:t>Late Aug 2026</a:t>
            </a:r>
            <a:endParaRPr lang="en-US" sz="1100" dirty="0"/>
          </a:p>
        </p:txBody>
      </p:sp>
      <p:sp>
        <p:nvSpPr>
          <p:cNvPr id="6" name="Text 4"/>
          <p:cNvSpPr/>
          <p:nvPr/>
        </p:nvSpPr>
        <p:spPr>
          <a:xfrm>
            <a:off x="548640"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Decision: method and buying route</a:t>
            </a:r>
            <a:endParaRPr lang="en-US" sz="950" dirty="0"/>
          </a:p>
        </p:txBody>
      </p:sp>
      <p:sp>
        <p:nvSpPr>
          <p:cNvPr id="7" name="Shape 5"/>
          <p:cNvSpPr/>
          <p:nvPr/>
        </p:nvSpPr>
        <p:spPr>
          <a:xfrm>
            <a:off x="3118104" y="1417320"/>
            <a:ext cx="256032" cy="256032"/>
          </a:xfrm>
          <a:prstGeom prst="ellipse">
            <a:avLst/>
          </a:prstGeom>
          <a:solidFill>
            <a:srgbClr val="8C8C8C"/>
          </a:solidFill>
          <a:ln/>
        </p:spPr>
      </p:sp>
      <p:sp>
        <p:nvSpPr>
          <p:cNvPr id="8" name="Shape 6"/>
          <p:cNvSpPr/>
          <p:nvPr/>
        </p:nvSpPr>
        <p:spPr>
          <a:xfrm>
            <a:off x="3374136" y="1545336"/>
            <a:ext cx="1627632" cy="0"/>
          </a:xfrm>
          <a:prstGeom prst="line">
            <a:avLst/>
          </a:prstGeom>
          <a:noFill/>
          <a:ln w="19050">
            <a:solidFill>
              <a:srgbClr val="8C8C8C"/>
            </a:solidFill>
            <a:prstDash val="solid"/>
          </a:ln>
        </p:spPr>
      </p:sp>
      <p:sp>
        <p:nvSpPr>
          <p:cNvPr id="9" name="Text 7"/>
          <p:cNvSpPr/>
          <p:nvPr/>
        </p:nvSpPr>
        <p:spPr>
          <a:xfrm>
            <a:off x="2432304" y="1783080"/>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Sep to Oct</a:t>
            </a:r>
            <a:endParaRPr lang="en-US" sz="1100" dirty="0"/>
          </a:p>
        </p:txBody>
      </p:sp>
      <p:sp>
        <p:nvSpPr>
          <p:cNvPr id="10" name="Text 8"/>
          <p:cNvSpPr/>
          <p:nvPr/>
        </p:nvSpPr>
        <p:spPr>
          <a:xfrm>
            <a:off x="2432304"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Market tested, approvals opened, tender prepared</a:t>
            </a:r>
            <a:endParaRPr lang="en-US" sz="950" dirty="0"/>
          </a:p>
        </p:txBody>
      </p:sp>
      <p:sp>
        <p:nvSpPr>
          <p:cNvPr id="11" name="Shape 9"/>
          <p:cNvSpPr/>
          <p:nvPr/>
        </p:nvSpPr>
        <p:spPr>
          <a:xfrm>
            <a:off x="5001768" y="1417320"/>
            <a:ext cx="256032" cy="256032"/>
          </a:xfrm>
          <a:prstGeom prst="ellipse">
            <a:avLst/>
          </a:prstGeom>
          <a:solidFill>
            <a:srgbClr val="8C8C8C"/>
          </a:solidFill>
          <a:ln/>
        </p:spPr>
      </p:sp>
      <p:sp>
        <p:nvSpPr>
          <p:cNvPr id="12" name="Shape 10"/>
          <p:cNvSpPr/>
          <p:nvPr/>
        </p:nvSpPr>
        <p:spPr>
          <a:xfrm>
            <a:off x="5257800" y="1545336"/>
            <a:ext cx="1627632" cy="0"/>
          </a:xfrm>
          <a:prstGeom prst="line">
            <a:avLst/>
          </a:prstGeom>
          <a:noFill/>
          <a:ln w="19050">
            <a:solidFill>
              <a:srgbClr val="8C8C8C"/>
            </a:solidFill>
            <a:prstDash val="solid"/>
          </a:ln>
        </p:spPr>
      </p:sp>
      <p:sp>
        <p:nvSpPr>
          <p:cNvPr id="13" name="Text 11"/>
          <p:cNvSpPr/>
          <p:nvPr/>
        </p:nvSpPr>
        <p:spPr>
          <a:xfrm>
            <a:off x="4315968" y="1783080"/>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Nov to Jan</a:t>
            </a:r>
            <a:endParaRPr lang="en-US" sz="1100" dirty="0"/>
          </a:p>
        </p:txBody>
      </p:sp>
      <p:sp>
        <p:nvSpPr>
          <p:cNvPr id="14" name="Text 12"/>
          <p:cNvSpPr/>
          <p:nvPr/>
        </p:nvSpPr>
        <p:spPr>
          <a:xfrm>
            <a:off x="4315968"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Tender and award, run through the wet season</a:t>
            </a:r>
            <a:endParaRPr lang="en-US" sz="950" dirty="0"/>
          </a:p>
        </p:txBody>
      </p:sp>
      <p:sp>
        <p:nvSpPr>
          <p:cNvPr id="15" name="Shape 13"/>
          <p:cNvSpPr/>
          <p:nvPr/>
        </p:nvSpPr>
        <p:spPr>
          <a:xfrm>
            <a:off x="6885432" y="1417320"/>
            <a:ext cx="256032" cy="256032"/>
          </a:xfrm>
          <a:prstGeom prst="ellipse">
            <a:avLst/>
          </a:prstGeom>
          <a:solidFill>
            <a:srgbClr val="8C8C8C"/>
          </a:solidFill>
          <a:ln/>
        </p:spPr>
      </p:sp>
      <p:sp>
        <p:nvSpPr>
          <p:cNvPr id="16" name="Shape 14"/>
          <p:cNvSpPr/>
          <p:nvPr/>
        </p:nvSpPr>
        <p:spPr>
          <a:xfrm>
            <a:off x="7141464" y="1545336"/>
            <a:ext cx="1627632" cy="0"/>
          </a:xfrm>
          <a:prstGeom prst="line">
            <a:avLst/>
          </a:prstGeom>
          <a:noFill/>
          <a:ln w="19050">
            <a:solidFill>
              <a:srgbClr val="8C8C8C"/>
            </a:solidFill>
            <a:prstDash val="solid"/>
          </a:ln>
        </p:spPr>
      </p:sp>
      <p:sp>
        <p:nvSpPr>
          <p:cNvPr id="17" name="Text 15"/>
          <p:cNvSpPr/>
          <p:nvPr/>
        </p:nvSpPr>
        <p:spPr>
          <a:xfrm>
            <a:off x="6199632" y="1783080"/>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Mar to Apr 2027</a:t>
            </a:r>
            <a:endParaRPr lang="en-US" sz="1100" dirty="0"/>
          </a:p>
        </p:txBody>
      </p:sp>
      <p:sp>
        <p:nvSpPr>
          <p:cNvPr id="18" name="Text 16"/>
          <p:cNvSpPr/>
          <p:nvPr/>
        </p:nvSpPr>
        <p:spPr>
          <a:xfrm>
            <a:off x="6199632"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Mobilise and prove the rate</a:t>
            </a:r>
            <a:endParaRPr lang="en-US" sz="950" dirty="0"/>
          </a:p>
        </p:txBody>
      </p:sp>
      <p:sp>
        <p:nvSpPr>
          <p:cNvPr id="19" name="Shape 17"/>
          <p:cNvSpPr/>
          <p:nvPr/>
        </p:nvSpPr>
        <p:spPr>
          <a:xfrm>
            <a:off x="8769096" y="1417320"/>
            <a:ext cx="256032" cy="256032"/>
          </a:xfrm>
          <a:prstGeom prst="ellipse">
            <a:avLst/>
          </a:prstGeom>
          <a:solidFill>
            <a:srgbClr val="8C8C8C"/>
          </a:solidFill>
          <a:ln/>
        </p:spPr>
      </p:sp>
      <p:sp>
        <p:nvSpPr>
          <p:cNvPr id="20" name="Shape 18"/>
          <p:cNvSpPr/>
          <p:nvPr/>
        </p:nvSpPr>
        <p:spPr>
          <a:xfrm>
            <a:off x="9025128" y="1545336"/>
            <a:ext cx="1627632" cy="0"/>
          </a:xfrm>
          <a:prstGeom prst="line">
            <a:avLst/>
          </a:prstGeom>
          <a:noFill/>
          <a:ln w="19050">
            <a:solidFill>
              <a:srgbClr val="8C8C8C"/>
            </a:solidFill>
            <a:prstDash val="solid"/>
          </a:ln>
        </p:spPr>
      </p:sp>
      <p:sp>
        <p:nvSpPr>
          <p:cNvPr id="21" name="Text 19"/>
          <p:cNvSpPr/>
          <p:nvPr/>
        </p:nvSpPr>
        <p:spPr>
          <a:xfrm>
            <a:off x="8083296" y="1783080"/>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2027 and 2028</a:t>
            </a:r>
            <a:endParaRPr lang="en-US" sz="1100" dirty="0"/>
          </a:p>
        </p:txBody>
      </p:sp>
      <p:sp>
        <p:nvSpPr>
          <p:cNvPr id="22" name="Text 20"/>
          <p:cNvSpPr/>
          <p:nvPr/>
        </p:nvSpPr>
        <p:spPr>
          <a:xfrm>
            <a:off x="8083296"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Two working seasons</a:t>
            </a:r>
            <a:endParaRPr lang="en-US" sz="950" dirty="0"/>
          </a:p>
        </p:txBody>
      </p:sp>
      <p:sp>
        <p:nvSpPr>
          <p:cNvPr id="23" name="Shape 21"/>
          <p:cNvSpPr/>
          <p:nvPr/>
        </p:nvSpPr>
        <p:spPr>
          <a:xfrm>
            <a:off x="10652760" y="1417320"/>
            <a:ext cx="256032" cy="256032"/>
          </a:xfrm>
          <a:prstGeom prst="ellipse">
            <a:avLst/>
          </a:prstGeom>
          <a:solidFill>
            <a:srgbClr val="E87722"/>
          </a:solidFill>
          <a:ln/>
        </p:spPr>
      </p:sp>
      <p:sp>
        <p:nvSpPr>
          <p:cNvPr id="24" name="Text 22"/>
          <p:cNvSpPr/>
          <p:nvPr/>
        </p:nvSpPr>
        <p:spPr>
          <a:xfrm>
            <a:off x="9966960" y="1783080"/>
            <a:ext cx="1737360" cy="320040"/>
          </a:xfrm>
          <a:prstGeom prst="rect">
            <a:avLst/>
          </a:prstGeom>
          <a:noFill/>
          <a:ln/>
        </p:spPr>
        <p:txBody>
          <a:bodyPr wrap="square" lIns="0" tIns="0" rIns="0" bIns="0" rtlCol="0" anchor="ctr"/>
          <a:lstStyle/>
          <a:p>
            <a:pPr algn="ctr" indent="0" marL="0">
              <a:buNone/>
            </a:pPr>
            <a:r>
              <a:rPr lang="en-US" sz="1100" b="1" dirty="0">
                <a:solidFill>
                  <a:srgbClr val="E87722"/>
                </a:solidFill>
                <a:latin typeface="Arial" pitchFamily="34" charset="0"/>
                <a:ea typeface="Arial" pitchFamily="34" charset="-122"/>
                <a:cs typeface="Arial" pitchFamily="34" charset="-120"/>
              </a:rPr>
              <a:t>Oct 2028</a:t>
            </a:r>
            <a:endParaRPr lang="en-US" sz="1100" dirty="0"/>
          </a:p>
        </p:txBody>
      </p:sp>
      <p:sp>
        <p:nvSpPr>
          <p:cNvPr id="25" name="Text 23"/>
          <p:cNvSpPr/>
          <p:nvPr/>
        </p:nvSpPr>
        <p:spPr>
          <a:xfrm>
            <a:off x="9966960"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Priority scope complete</a:t>
            </a:r>
            <a:endParaRPr lang="en-US" sz="950" dirty="0"/>
          </a:p>
        </p:txBody>
      </p:sp>
      <p:sp>
        <p:nvSpPr>
          <p:cNvPr id="26" name="Text 24"/>
          <p:cNvSpPr/>
          <p:nvPr/>
        </p:nvSpPr>
        <p:spPr>
          <a:xfrm>
            <a:off x="548640" y="3200400"/>
            <a:ext cx="11064240" cy="411480"/>
          </a:xfrm>
          <a:prstGeom prst="rect">
            <a:avLst/>
          </a:prstGeom>
          <a:noFill/>
          <a:ln/>
        </p:spPr>
        <p:txBody>
          <a:bodyPr wrap="square" lIns="0" tIns="0" rIns="0" bIns="0" rtlCol="0" anchor="ctr"/>
          <a:lstStyle/>
          <a:p>
            <a:pPr indent="0" marL="0">
              <a:buNone/>
            </a:pPr>
            <a:r>
              <a:rPr lang="en-US" sz="1800" b="1" dirty="0">
                <a:solidFill>
                  <a:srgbClr val="E87722"/>
                </a:solidFill>
                <a:latin typeface="Georgia" pitchFamily="34" charset="0"/>
                <a:ea typeface="Georgia" pitchFamily="34" charset="-122"/>
                <a:cs typeface="Georgia" pitchFamily="34" charset="-120"/>
              </a:rPr>
              <a:t>Sought from the Board today</a:t>
            </a:r>
            <a:endParaRPr lang="en-US" sz="1800" dirty="0"/>
          </a:p>
        </p:txBody>
      </p:sp>
      <p:sp>
        <p:nvSpPr>
          <p:cNvPr id="27" name="Text 25"/>
          <p:cNvSpPr/>
          <p:nvPr/>
        </p:nvSpPr>
        <p:spPr>
          <a:xfrm>
            <a:off x="548640" y="3703320"/>
            <a:ext cx="365760" cy="457200"/>
          </a:xfrm>
          <a:prstGeom prst="rect">
            <a:avLst/>
          </a:prstGeom>
          <a:noFill/>
          <a:ln/>
        </p:spPr>
        <p:txBody>
          <a:bodyPr wrap="square" lIns="0" tIns="0" rIns="0" bIns="0" rtlCol="0" anchor="ctr"/>
          <a:lstStyle/>
          <a:p>
            <a:pPr indent="0" marL="0">
              <a:buNone/>
            </a:pPr>
            <a:r>
              <a:rPr lang="en-US" sz="1600" b="1" dirty="0">
                <a:solidFill>
                  <a:srgbClr val="E87722"/>
                </a:solidFill>
                <a:latin typeface="Georgia" pitchFamily="34" charset="0"/>
                <a:ea typeface="Georgia" pitchFamily="34" charset="-122"/>
                <a:cs typeface="Georgia" pitchFamily="34" charset="-120"/>
              </a:rPr>
              <a:t>1</a:t>
            </a:r>
            <a:endParaRPr lang="en-US" sz="1600" dirty="0"/>
          </a:p>
        </p:txBody>
      </p:sp>
      <p:sp>
        <p:nvSpPr>
          <p:cNvPr id="28" name="Text 26"/>
          <p:cNvSpPr/>
          <p:nvPr/>
        </p:nvSpPr>
        <p:spPr>
          <a:xfrm>
            <a:off x="1005840" y="3730752"/>
            <a:ext cx="10424160" cy="530352"/>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Endorse the marine access method, in the Option 2 configuration, as the reference concept for procurement.</a:t>
            </a:r>
            <a:endParaRPr lang="en-US" sz="1300" dirty="0"/>
          </a:p>
        </p:txBody>
      </p:sp>
      <p:sp>
        <p:nvSpPr>
          <p:cNvPr id="29" name="Text 27"/>
          <p:cNvSpPr/>
          <p:nvPr/>
        </p:nvSpPr>
        <p:spPr>
          <a:xfrm>
            <a:off x="548640" y="4270248"/>
            <a:ext cx="365760" cy="457200"/>
          </a:xfrm>
          <a:prstGeom prst="rect">
            <a:avLst/>
          </a:prstGeom>
          <a:noFill/>
          <a:ln/>
        </p:spPr>
        <p:txBody>
          <a:bodyPr wrap="square" lIns="0" tIns="0" rIns="0" bIns="0" rtlCol="0" anchor="ctr"/>
          <a:lstStyle/>
          <a:p>
            <a:pPr indent="0" marL="0">
              <a:buNone/>
            </a:pPr>
            <a:r>
              <a:rPr lang="en-US" sz="1600" b="1" dirty="0">
                <a:solidFill>
                  <a:srgbClr val="E87722"/>
                </a:solidFill>
                <a:latin typeface="Georgia" pitchFamily="34" charset="0"/>
                <a:ea typeface="Georgia" pitchFamily="34" charset="-122"/>
                <a:cs typeface="Georgia" pitchFamily="34" charset="-120"/>
              </a:rPr>
              <a:t>2</a:t>
            </a:r>
            <a:endParaRPr lang="en-US" sz="1600" dirty="0"/>
          </a:p>
        </p:txBody>
      </p:sp>
      <p:sp>
        <p:nvSpPr>
          <p:cNvPr id="30" name="Text 28"/>
          <p:cNvSpPr/>
          <p:nvPr/>
        </p:nvSpPr>
        <p:spPr>
          <a:xfrm>
            <a:off x="1005840" y="4297680"/>
            <a:ext cx="10424160" cy="530352"/>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Approve the paid trial fortnight, so every number is calibrated on real pilebents before any fleet commitment.</a:t>
            </a:r>
            <a:endParaRPr lang="en-US" sz="1300" dirty="0"/>
          </a:p>
        </p:txBody>
      </p:sp>
      <p:sp>
        <p:nvSpPr>
          <p:cNvPr id="31" name="Text 29"/>
          <p:cNvSpPr/>
          <p:nvPr/>
        </p:nvSpPr>
        <p:spPr>
          <a:xfrm>
            <a:off x="548640" y="4837176"/>
            <a:ext cx="365760" cy="457200"/>
          </a:xfrm>
          <a:prstGeom prst="rect">
            <a:avLst/>
          </a:prstGeom>
          <a:noFill/>
          <a:ln/>
        </p:spPr>
        <p:txBody>
          <a:bodyPr wrap="square" lIns="0" tIns="0" rIns="0" bIns="0" rtlCol="0" anchor="ctr"/>
          <a:lstStyle/>
          <a:p>
            <a:pPr indent="0" marL="0">
              <a:buNone/>
            </a:pPr>
            <a:r>
              <a:rPr lang="en-US" sz="1600" b="1" dirty="0">
                <a:solidFill>
                  <a:srgbClr val="E87722"/>
                </a:solidFill>
                <a:latin typeface="Georgia" pitchFamily="34" charset="0"/>
                <a:ea typeface="Georgia" pitchFamily="34" charset="-122"/>
                <a:cs typeface="Georgia" pitchFamily="34" charset="-120"/>
              </a:rPr>
              <a:t>3</a:t>
            </a:r>
            <a:endParaRPr lang="en-US" sz="1600" dirty="0"/>
          </a:p>
        </p:txBody>
      </p:sp>
      <p:sp>
        <p:nvSpPr>
          <p:cNvPr id="32" name="Text 30"/>
          <p:cNvSpPr/>
          <p:nvPr/>
        </p:nvSpPr>
        <p:spPr>
          <a:xfrm>
            <a:off x="1005840" y="4864608"/>
            <a:ext cx="10424160" cy="530352"/>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Authorise the approvals pathway to open now; regulator lead time is the largest programme risk and precedes everything.</a:t>
            </a:r>
            <a:endParaRPr lang="en-US" sz="1300" dirty="0"/>
          </a:p>
        </p:txBody>
      </p:sp>
      <p:sp>
        <p:nvSpPr>
          <p:cNvPr id="33" name="Text 31"/>
          <p:cNvSpPr/>
          <p:nvPr/>
        </p:nvSpPr>
        <p:spPr>
          <a:xfrm>
            <a:off x="548640" y="5404104"/>
            <a:ext cx="365760" cy="457200"/>
          </a:xfrm>
          <a:prstGeom prst="rect">
            <a:avLst/>
          </a:prstGeom>
          <a:noFill/>
          <a:ln/>
        </p:spPr>
        <p:txBody>
          <a:bodyPr wrap="square" lIns="0" tIns="0" rIns="0" bIns="0" rtlCol="0" anchor="ctr"/>
          <a:lstStyle/>
          <a:p>
            <a:pPr indent="0" marL="0">
              <a:buNone/>
            </a:pPr>
            <a:r>
              <a:rPr lang="en-US" sz="1600" b="1" dirty="0">
                <a:solidFill>
                  <a:srgbClr val="E87722"/>
                </a:solidFill>
                <a:latin typeface="Georgia" pitchFamily="34" charset="0"/>
                <a:ea typeface="Georgia" pitchFamily="34" charset="-122"/>
                <a:cs typeface="Georgia" pitchFamily="34" charset="-120"/>
              </a:rPr>
              <a:t>4</a:t>
            </a:r>
            <a:endParaRPr lang="en-US" sz="1600" dirty="0"/>
          </a:p>
        </p:txBody>
      </p:sp>
      <p:sp>
        <p:nvSpPr>
          <p:cNvPr id="34" name="Text 32"/>
          <p:cNvSpPr/>
          <p:nvPr/>
        </p:nvSpPr>
        <p:spPr>
          <a:xfrm>
            <a:off x="1005840" y="5431536"/>
            <a:ext cx="10424160" cy="530352"/>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Note that the buying route (change under existing arrangements, a separate access package, or one consolidated package) returns to the Board after the options workshop.</a:t>
            </a:r>
            <a:endParaRPr lang="en-US" sz="1300" dirty="0"/>
          </a:p>
        </p:txBody>
      </p:sp>
      <p:sp>
        <p:nvSpPr>
          <p:cNvPr id="35" name="Text 33"/>
          <p:cNvSpPr/>
          <p:nvPr/>
        </p:nvSpPr>
        <p:spPr>
          <a:xfrm>
            <a:off x="548640" y="6473952"/>
            <a:ext cx="10972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A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2026-08-20T18:37:36Z</dcterms:created>
  <dcterms:modified xsi:type="dcterms:W3CDTF">2026-08-20T18:37:36Z</dcterms:modified>
</cp:coreProperties>
</file>